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92040"/>
            <a:ext cx="12191695" cy="54864"/>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2331720"/>
            <a:ext cx="82296" cy="1371600"/>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212848"/>
            <a:ext cx="7315200" cy="365760"/>
          </a:xfrm>
          <a:prstGeom prst="rect">
            <a:avLst/>
          </a:prstGeom>
          <a:noFill/>
        </p:spPr>
        <p:txBody>
          <a:bodyPr wrap="square" anchor="t" lIns="0" rIns="0" tIns="0" bIns="0">
            <a:spAutoFit/>
          </a:bodyPr>
          <a:lstStyle/>
          <a:p>
            <a:pPr algn="l">
              <a:lnSpc>
                <a:spcPct val="100000"/>
              </a:lnSpc>
            </a:pPr>
            <a:r>
              <a:rPr sz="1400" b="1" i="0">
                <a:solidFill>
                  <a:srgbClr val="2EC4B6"/>
                </a:solidFill>
                <a:latin typeface="Segoe UI Semibold"/>
              </a:rPr>
              <a:t>PHÂN TÍCH CHIẾN LƯỢC SẢN PHẨM</a:t>
            </a:r>
          </a:p>
        </p:txBody>
      </p:sp>
      <p:sp>
        <p:nvSpPr>
          <p:cNvPr id="6" name="TextBox 5"/>
          <p:cNvSpPr txBox="1"/>
          <p:nvPr/>
        </p:nvSpPr>
        <p:spPr>
          <a:xfrm>
            <a:off x="822960" y="2514600"/>
            <a:ext cx="10515600" cy="1188720"/>
          </a:xfrm>
          <a:prstGeom prst="rect">
            <a:avLst/>
          </a:prstGeom>
          <a:noFill/>
        </p:spPr>
        <p:txBody>
          <a:bodyPr wrap="square" anchor="t" lIns="0" rIns="0" tIns="0" bIns="0">
            <a:spAutoFit/>
          </a:bodyPr>
          <a:lstStyle/>
          <a:p>
            <a:pPr algn="l">
              <a:lnSpc>
                <a:spcPct val="100000"/>
              </a:lnSpc>
            </a:pPr>
            <a:r>
              <a:rPr sz="6400" b="1" i="0">
                <a:solidFill>
                  <a:srgbClr val="FFFFFF"/>
                </a:solidFill>
                <a:latin typeface="Segoe UI Semibold"/>
              </a:rPr>
              <a:t>VigiBank</a:t>
            </a:r>
          </a:p>
        </p:txBody>
      </p:sp>
      <p:sp>
        <p:nvSpPr>
          <p:cNvPr id="7" name="TextBox 6"/>
          <p:cNvSpPr txBox="1"/>
          <p:nvPr/>
        </p:nvSpPr>
        <p:spPr>
          <a:xfrm>
            <a:off x="868680" y="3520440"/>
            <a:ext cx="10058400" cy="548640"/>
          </a:xfrm>
          <a:prstGeom prst="rect">
            <a:avLst/>
          </a:prstGeom>
          <a:noFill/>
        </p:spPr>
        <p:txBody>
          <a:bodyPr wrap="square" anchor="t" lIns="0" rIns="0" tIns="0" bIns="0">
            <a:spAutoFit/>
          </a:bodyPr>
          <a:lstStyle/>
          <a:p>
            <a:pPr algn="l">
              <a:lnSpc>
                <a:spcPct val="100000"/>
              </a:lnSpc>
            </a:pPr>
            <a:r>
              <a:rPr sz="2200" b="0" i="0">
                <a:solidFill>
                  <a:srgbClr val="D8E1F0"/>
                </a:solidFill>
                <a:latin typeface="Segoe UI"/>
              </a:rPr>
              <a:t>Social Listening chuyên biệt cho ngành Ngân hàng</a:t>
            </a:r>
          </a:p>
        </p:txBody>
      </p:sp>
      <p:sp>
        <p:nvSpPr>
          <p:cNvPr id="8" name="TextBox 7"/>
          <p:cNvSpPr txBox="1"/>
          <p:nvPr/>
        </p:nvSpPr>
        <p:spPr>
          <a:xfrm>
            <a:off x="868680" y="4069080"/>
            <a:ext cx="10332720" cy="822960"/>
          </a:xfrm>
          <a:prstGeom prst="rect">
            <a:avLst/>
          </a:prstGeom>
          <a:noFill/>
        </p:spPr>
        <p:txBody>
          <a:bodyPr wrap="square" anchor="t" lIns="0" rIns="0" tIns="0" bIns="0">
            <a:spAutoFit/>
          </a:bodyPr>
          <a:lstStyle/>
          <a:p>
            <a:pPr algn="l">
              <a:lnSpc>
                <a:spcPct val="125000"/>
              </a:lnSpc>
            </a:pPr>
            <a:r>
              <a:rPr sz="1450" b="0" i="0">
                <a:solidFill>
                  <a:srgbClr val="AFBED6"/>
                </a:solidFill>
                <a:latin typeface="Segoe UI"/>
              </a:rPr>
              <a:t>Hệ thống có đáng để doanh nghiệp trả tiền? So sánh trực diện với ChatGPT Pro (Deep Research)</a:t>
            </a:r>
          </a:p>
          <a:p>
            <a:pPr algn="l">
              <a:lnSpc>
                <a:spcPct val="125000"/>
              </a:lnSpc>
            </a:pPr>
            <a:r>
              <a:rPr sz="1450" b="0" i="0">
                <a:solidFill>
                  <a:srgbClr val="AFBED6"/>
                </a:solidFill>
                <a:latin typeface="Segoe UI"/>
              </a:rPr>
              <a:t>và các nền tảng social listening hiện có — cùng lộ trình để trở thành một sản phẩm hoàn chỉnh.</a:t>
            </a:r>
          </a:p>
        </p:txBody>
      </p:sp>
      <p:sp>
        <p:nvSpPr>
          <p:cNvPr id="9" name="TextBox 8"/>
          <p:cNvSpPr txBox="1"/>
          <p:nvPr/>
        </p:nvSpPr>
        <p:spPr>
          <a:xfrm>
            <a:off x="868680" y="6263640"/>
            <a:ext cx="7315200" cy="365760"/>
          </a:xfrm>
          <a:prstGeom prst="rect">
            <a:avLst/>
          </a:prstGeom>
          <a:noFill/>
        </p:spPr>
        <p:txBody>
          <a:bodyPr wrap="square" anchor="t" lIns="0" rIns="0" tIns="0" bIns="0">
            <a:spAutoFit/>
          </a:bodyPr>
          <a:lstStyle/>
          <a:p>
            <a:pPr algn="l">
              <a:lnSpc>
                <a:spcPct val="100000"/>
              </a:lnSpc>
            </a:pPr>
            <a:r>
              <a:rPr sz="1150" b="0" i="0">
                <a:solidFill>
                  <a:srgbClr val="7C8CA8"/>
                </a:solidFill>
                <a:latin typeface="Segoe UI"/>
              </a:rPr>
              <a:t>Tài liệu nội bộ  ·  Tháng 8/2026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38100"/>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0058400" cy="274320"/>
          </a:xfrm>
          <a:prstGeom prst="rect">
            <a:avLst/>
          </a:prstGeom>
          <a:noFill/>
        </p:spPr>
        <p:txBody>
          <a:bodyPr wrap="square" anchor="t" lIns="0" rIns="0" tIns="0" bIns="0">
            <a:spAutoFit/>
          </a:bodyPr>
          <a:lstStyle/>
          <a:p>
            <a:pPr algn="l">
              <a:lnSpc>
                <a:spcPct val="100000"/>
              </a:lnSpc>
            </a:pPr>
            <a:r>
              <a:rPr sz="1150" b="1" i="0">
                <a:solidFill>
                  <a:srgbClr val="2EC4B6"/>
                </a:solidFill>
                <a:latin typeface="Segoe UI Semibold"/>
              </a:rPr>
              <a:t>BỐI CẢNH</a:t>
            </a:r>
          </a:p>
        </p:txBody>
      </p:sp>
      <p:sp>
        <p:nvSpPr>
          <p:cNvPr id="5" name="TextBox 4"/>
          <p:cNvSpPr txBox="1"/>
          <p:nvPr/>
        </p:nvSpPr>
        <p:spPr>
          <a:xfrm>
            <a:off x="548640" y="420624"/>
            <a:ext cx="10972800" cy="640080"/>
          </a:xfrm>
          <a:prstGeom prst="rect">
            <a:avLst/>
          </a:prstGeom>
          <a:noFill/>
        </p:spPr>
        <p:txBody>
          <a:bodyPr wrap="square" anchor="t" lIns="0" rIns="0" tIns="0" bIns="0">
            <a:spAutoFit/>
          </a:bodyPr>
          <a:lstStyle/>
          <a:p>
            <a:pPr algn="l">
              <a:lnSpc>
                <a:spcPct val="100000"/>
              </a:lnSpc>
            </a:pPr>
            <a:r>
              <a:rPr sz="2700" b="1" i="0">
                <a:solidFill>
                  <a:srgbClr val="FFFFFF"/>
                </a:solidFill>
                <a:latin typeface="Segoe UI Semibold"/>
              </a:rPr>
              <a:t>Vì sao ngân hàng cần “nghe” khách hàng một cách chủ động</a:t>
            </a:r>
          </a:p>
        </p:txBody>
      </p:sp>
      <p:sp>
        <p:nvSpPr>
          <p:cNvPr id="6" name="Rectangle 5"/>
          <p:cNvSpPr/>
          <p:nvPr/>
        </p:nvSpPr>
        <p:spPr>
          <a:xfrm>
            <a:off x="0" y="6565392"/>
            <a:ext cx="12191695" cy="292608"/>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65392"/>
            <a:ext cx="7315200" cy="292608"/>
          </a:xfrm>
          <a:prstGeom prst="rect">
            <a:avLst/>
          </a:prstGeom>
          <a:noFill/>
        </p:spPr>
        <p:txBody>
          <a:bodyPr wrap="square" anchor="ctr" lIns="0" rIns="0" tIns="0" bIns="0">
            <a:spAutoFit/>
          </a:bodyPr>
          <a:lstStyle/>
          <a:p>
            <a:pPr algn="l">
              <a:lnSpc>
                <a:spcPct val="100000"/>
              </a:lnSpc>
            </a:pPr>
            <a:r>
              <a:rPr sz="900" b="0" i="0">
                <a:solidFill>
                  <a:srgbClr val="B9C4D6"/>
                </a:solidFill>
                <a:latin typeface="Segoe UI"/>
              </a:rPr>
              <a:t>VigiBank  ·  Bối cảnh</a:t>
            </a:r>
          </a:p>
        </p:txBody>
      </p:sp>
      <p:sp>
        <p:nvSpPr>
          <p:cNvPr id="8" name="TextBox 7"/>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B9C4D6"/>
                </a:solidFill>
                <a:latin typeface="Segoe UI"/>
              </a:rPr>
              <a:t>1</a:t>
            </a:r>
          </a:p>
        </p:txBody>
      </p:sp>
      <p:sp>
        <p:nvSpPr>
          <p:cNvPr id="9" name="TextBox 8"/>
          <p:cNvSpPr txBox="1"/>
          <p:nvPr/>
        </p:nvSpPr>
        <p:spPr>
          <a:xfrm>
            <a:off x="548640" y="1600200"/>
            <a:ext cx="6949440" cy="4754880"/>
          </a:xfrm>
          <a:prstGeom prst="rect">
            <a:avLst/>
          </a:prstGeom>
          <a:noFill/>
        </p:spPr>
        <p:txBody>
          <a:bodyPr wrap="square" lIns="0" rIns="0" tIns="0" bIns="0">
            <a:spAutoFit/>
          </a:bodyPr>
          <a:lstStyle/>
          <a:p>
            <a:pPr>
              <a:lnSpc>
                <a:spcPct val="108000"/>
              </a:lnSpc>
              <a:spcAft>
                <a:spcPts val="1600"/>
              </a:spcAft>
            </a:pPr>
            <a:r>
              <a:rPr sz="1550" b="1">
                <a:solidFill>
                  <a:srgbClr val="1E8E84"/>
                </a:solidFill>
                <a:latin typeface="Segoe UI"/>
              </a:rPr>
              <a:t>—  </a:t>
            </a:r>
            <a:r>
              <a:rPr sz="1550">
                <a:solidFill>
                  <a:srgbClr val="1A1D29"/>
                </a:solidFill>
                <a:latin typeface="Segoe UI"/>
              </a:rPr>
              <a:t>Phản hồi khách hàng nằm rải rác trên nhiều kênh: đánh giá app (Google Play, App Store), Facebook, TikTok, báo chí — chưa kể hotline và CSKH nội bộ.</a:t>
            </a:r>
          </a:p>
          <a:p>
            <a:pPr>
              <a:lnSpc>
                <a:spcPct val="108000"/>
              </a:lnSpc>
              <a:spcAft>
                <a:spcPts val="1600"/>
              </a:spcAft>
            </a:pPr>
            <a:r>
              <a:rPr sz="1550" b="1">
                <a:solidFill>
                  <a:srgbClr val="1E8E84"/>
                </a:solidFill>
                <a:latin typeface="Segoe UI"/>
              </a:rPr>
              <a:t>—  </a:t>
            </a:r>
            <a:r>
              <a:rPr sz="1550">
                <a:solidFill>
                  <a:srgbClr val="1A1D29"/>
                </a:solidFill>
                <a:latin typeface="Segoe UI"/>
              </a:rPr>
              <a:t>Một khủng hoảng truyền thông thường bắt đầu từ vài chục bình luận nhỏ lẻ, rất dễ bị bỏ sót trước khi bị khuếch đại trên mạng xã hội hoặc báo chí.</a:t>
            </a:r>
          </a:p>
          <a:p>
            <a:pPr>
              <a:lnSpc>
                <a:spcPct val="108000"/>
              </a:lnSpc>
              <a:spcAft>
                <a:spcPts val="1600"/>
              </a:spcAft>
            </a:pPr>
            <a:r>
              <a:rPr sz="1550" b="1">
                <a:solidFill>
                  <a:srgbClr val="1E8E84"/>
                </a:solidFill>
                <a:latin typeface="Segoe UI"/>
              </a:rPr>
              <a:t>—  </a:t>
            </a:r>
            <a:r>
              <a:rPr sz="1550">
                <a:solidFill>
                  <a:srgbClr val="1A1D29"/>
                </a:solidFill>
                <a:latin typeface="Segoe UI"/>
              </a:rPr>
              <a:t>Ngành ngân hàng có ràng buộc riêng: mọi phản ánh về phí, lãi suất, bảo mật cần được đối chiếu với quy định của NHNN và chính sách nội bộ — việc mà công cụ social listening đại trà không làm.</a:t>
            </a:r>
          </a:p>
          <a:p>
            <a:pPr>
              <a:lnSpc>
                <a:spcPct val="108000"/>
              </a:lnSpc>
              <a:spcAft>
                <a:spcPts val="1600"/>
              </a:spcAft>
            </a:pPr>
            <a:r>
              <a:rPr sz="1550" b="1">
                <a:solidFill>
                  <a:srgbClr val="1E8E84"/>
                </a:solidFill>
                <a:latin typeface="Segoe UI"/>
              </a:rPr>
              <a:t>—  </a:t>
            </a:r>
            <a:r>
              <a:rPr sz="1550">
                <a:solidFill>
                  <a:srgbClr val="1A1D29"/>
                </a:solidFill>
                <a:latin typeface="Segoe UI"/>
              </a:rPr>
              <a:t>Theo dõi thủ công (đọc tay, tổng hợp Excel) không thể theo kịp tốc độ và khối lượng dữ liệu đa kênh, đa ngôn ngữ, phát sinh liên tục mỗi ngày.</a:t>
            </a:r>
          </a:p>
        </p:txBody>
      </p:sp>
      <p:sp>
        <p:nvSpPr>
          <p:cNvPr id="10" name="Rectangle 9"/>
          <p:cNvSpPr/>
          <p:nvPr/>
        </p:nvSpPr>
        <p:spPr>
          <a:xfrm>
            <a:off x="7955279" y="1600200"/>
            <a:ext cx="3703320" cy="4572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55279" y="1600200"/>
            <a:ext cx="3703320" cy="54864"/>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1874519"/>
            <a:ext cx="3200400" cy="365760"/>
          </a:xfrm>
          <a:prstGeom prst="rect">
            <a:avLst/>
          </a:prstGeom>
          <a:noFill/>
        </p:spPr>
        <p:txBody>
          <a:bodyPr wrap="square" anchor="t" lIns="0" rIns="0" tIns="0" bIns="0">
            <a:spAutoFit/>
          </a:bodyPr>
          <a:lstStyle/>
          <a:p>
            <a:pPr algn="l">
              <a:lnSpc>
                <a:spcPct val="100000"/>
              </a:lnSpc>
            </a:pPr>
            <a:r>
              <a:rPr sz="1300" b="1" i="0">
                <a:solidFill>
                  <a:srgbClr val="0B1F3A"/>
                </a:solidFill>
                <a:latin typeface="Segoe UI Semibold"/>
              </a:rPr>
              <a:t>Những câu hỏi của tài liệu này</a:t>
            </a:r>
          </a:p>
        </p:txBody>
      </p:sp>
      <p:sp>
        <p:nvSpPr>
          <p:cNvPr id="13" name="TextBox 12"/>
          <p:cNvSpPr txBox="1"/>
          <p:nvPr/>
        </p:nvSpPr>
        <p:spPr>
          <a:xfrm>
            <a:off x="8229600" y="2331720"/>
            <a:ext cx="3200400" cy="4023360"/>
          </a:xfrm>
          <a:prstGeom prst="rect">
            <a:avLst/>
          </a:prstGeom>
          <a:noFill/>
        </p:spPr>
        <p:txBody>
          <a:bodyPr wrap="square" lIns="0" rIns="0" tIns="0" bIns="0">
            <a:spAutoFit/>
          </a:bodyPr>
          <a:lstStyle/>
          <a:p>
            <a:pPr>
              <a:lnSpc>
                <a:spcPct val="108000"/>
              </a:lnSpc>
              <a:spcAft>
                <a:spcPts val="1400"/>
              </a:spcAft>
            </a:pPr>
            <a:r>
              <a:rPr sz="1350" b="1">
                <a:solidFill>
                  <a:srgbClr val="1E8E84"/>
                </a:solidFill>
                <a:latin typeface="Segoe UI"/>
              </a:rPr>
              <a:t>—  </a:t>
            </a:r>
            <a:r>
              <a:rPr sz="1350">
                <a:solidFill>
                  <a:srgbClr val="1A1D29"/>
                </a:solidFill>
                <a:latin typeface="Segoe UI"/>
              </a:rPr>
              <a:t>VigiBank khác gì các nền tảng social listening hiện có?</a:t>
            </a:r>
          </a:p>
          <a:p>
            <a:pPr>
              <a:lnSpc>
                <a:spcPct val="108000"/>
              </a:lnSpc>
              <a:spcAft>
                <a:spcPts val="1400"/>
              </a:spcAft>
            </a:pPr>
            <a:r>
              <a:rPr sz="1350" b="1">
                <a:solidFill>
                  <a:srgbClr val="1E8E84"/>
                </a:solidFill>
                <a:latin typeface="Segoe UI"/>
              </a:rPr>
              <a:t>—  </a:t>
            </a:r>
            <a:r>
              <a:rPr sz="1350">
                <a:solidFill>
                  <a:srgbClr val="1A1D29"/>
                </a:solidFill>
                <a:latin typeface="Segoe UI"/>
              </a:rPr>
              <a:t>ChatGPT Pro (Deep Research) có thay thế được không?</a:t>
            </a:r>
          </a:p>
          <a:p>
            <a:pPr>
              <a:lnSpc>
                <a:spcPct val="108000"/>
              </a:lnSpc>
              <a:spcAft>
                <a:spcPts val="1400"/>
              </a:spcAft>
            </a:pPr>
            <a:r>
              <a:rPr sz="1350" b="1">
                <a:solidFill>
                  <a:srgbClr val="1E8E84"/>
                </a:solidFill>
                <a:latin typeface="Segoe UI"/>
              </a:rPr>
              <a:t>—  </a:t>
            </a:r>
            <a:r>
              <a:rPr sz="1350">
                <a:solidFill>
                  <a:srgbClr val="1A1D29"/>
                </a:solidFill>
                <a:latin typeface="Segoe UI"/>
              </a:rPr>
              <a:t>So sánh kỹ thuật: độ trễ, độ chính xác, chi phí, độ bao phủ, khả năng tổng hợp.</a:t>
            </a:r>
          </a:p>
          <a:p>
            <a:pPr>
              <a:lnSpc>
                <a:spcPct val="108000"/>
              </a:lnSpc>
              <a:spcAft>
                <a:spcPts val="1400"/>
              </a:spcAft>
            </a:pPr>
            <a:r>
              <a:rPr sz="1350" b="1">
                <a:solidFill>
                  <a:srgbClr val="1E8E84"/>
                </a:solidFill>
                <a:latin typeface="Segoe UI"/>
              </a:rPr>
              <a:t>—  </a:t>
            </a:r>
            <a:r>
              <a:rPr sz="1350">
                <a:solidFill>
                  <a:srgbClr val="1A1D29"/>
                </a:solidFill>
                <a:latin typeface="Segoe UI"/>
              </a:rPr>
              <a:t>Cần thêm gì để trở thành hệ thống “đáng bỏ tiền ra trải nghiệm”?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38100"/>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0058400" cy="274320"/>
          </a:xfrm>
          <a:prstGeom prst="rect">
            <a:avLst/>
          </a:prstGeom>
          <a:noFill/>
        </p:spPr>
        <p:txBody>
          <a:bodyPr wrap="square" anchor="t" lIns="0" rIns="0" tIns="0" bIns="0">
            <a:spAutoFit/>
          </a:bodyPr>
          <a:lstStyle/>
          <a:p>
            <a:pPr algn="l">
              <a:lnSpc>
                <a:spcPct val="100000"/>
              </a:lnSpc>
            </a:pPr>
            <a:r>
              <a:rPr sz="1150" b="1" i="0">
                <a:solidFill>
                  <a:srgbClr val="2EC4B6"/>
                </a:solidFill>
                <a:latin typeface="Segoe UI Semibold"/>
              </a:rPr>
              <a:t>TỔNG QUAN HỆ THỐNG</a:t>
            </a:r>
          </a:p>
        </p:txBody>
      </p:sp>
      <p:sp>
        <p:nvSpPr>
          <p:cNvPr id="5" name="TextBox 4"/>
          <p:cNvSpPr txBox="1"/>
          <p:nvPr/>
        </p:nvSpPr>
        <p:spPr>
          <a:xfrm>
            <a:off x="548640" y="420624"/>
            <a:ext cx="10972800" cy="640080"/>
          </a:xfrm>
          <a:prstGeom prst="rect">
            <a:avLst/>
          </a:prstGeom>
          <a:noFill/>
        </p:spPr>
        <p:txBody>
          <a:bodyPr wrap="square" anchor="t" lIns="0" rIns="0" tIns="0" bIns="0">
            <a:spAutoFit/>
          </a:bodyPr>
          <a:lstStyle/>
          <a:p>
            <a:pPr algn="l">
              <a:lnSpc>
                <a:spcPct val="100000"/>
              </a:lnSpc>
            </a:pPr>
            <a:r>
              <a:rPr sz="2700" b="1" i="0">
                <a:solidFill>
                  <a:srgbClr val="FFFFFF"/>
                </a:solidFill>
                <a:latin typeface="Segoe UI Semibold"/>
              </a:rPr>
              <a:t>VigiBank vận hành theo pipeline 4 giai đoạn, tự động 24/7</a:t>
            </a:r>
          </a:p>
        </p:txBody>
      </p:sp>
      <p:sp>
        <p:nvSpPr>
          <p:cNvPr id="6" name="Rectangle 5"/>
          <p:cNvSpPr/>
          <p:nvPr/>
        </p:nvSpPr>
        <p:spPr>
          <a:xfrm>
            <a:off x="0" y="6565392"/>
            <a:ext cx="12191695" cy="292608"/>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65392"/>
            <a:ext cx="7315200" cy="292608"/>
          </a:xfrm>
          <a:prstGeom prst="rect">
            <a:avLst/>
          </a:prstGeom>
          <a:noFill/>
        </p:spPr>
        <p:txBody>
          <a:bodyPr wrap="square" anchor="ctr" lIns="0" rIns="0" tIns="0" bIns="0">
            <a:spAutoFit/>
          </a:bodyPr>
          <a:lstStyle/>
          <a:p>
            <a:pPr algn="l">
              <a:lnSpc>
                <a:spcPct val="100000"/>
              </a:lnSpc>
            </a:pPr>
            <a:r>
              <a:rPr sz="900" b="0" i="0">
                <a:solidFill>
                  <a:srgbClr val="B9C4D6"/>
                </a:solidFill>
                <a:latin typeface="Segoe UI"/>
              </a:rPr>
              <a:t>VigiBank  ·  Tổng quan hệ thống</a:t>
            </a:r>
          </a:p>
        </p:txBody>
      </p:sp>
      <p:sp>
        <p:nvSpPr>
          <p:cNvPr id="8" name="TextBox 7"/>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B9C4D6"/>
                </a:solidFill>
                <a:latin typeface="Segoe UI"/>
              </a:rPr>
              <a:t>2</a:t>
            </a:r>
          </a:p>
        </p:txBody>
      </p:sp>
      <p:sp>
        <p:nvSpPr>
          <p:cNvPr id="9" name="Rectangle 8"/>
          <p:cNvSpPr/>
          <p:nvPr/>
        </p:nvSpPr>
        <p:spPr>
          <a:xfrm>
            <a:off x="548640" y="1874519"/>
            <a:ext cx="2606040" cy="2834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74519"/>
            <a:ext cx="2606040" cy="54864"/>
          </a:xfrm>
          <a:prstGeom prst="rect">
            <a:avLst/>
          </a:prstGeom>
          <a:solidFill>
            <a:srgbClr val="1B4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13232" y="2103119"/>
            <a:ext cx="502920" cy="502920"/>
          </a:xfrm>
          <a:prstGeom prst="ellipse">
            <a:avLst/>
          </a:prstGeom>
          <a:solidFill>
            <a:srgbClr val="1B4E8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00" b="1">
                <a:solidFill>
                  <a:srgbClr val="FFFFFF"/>
                </a:solidFill>
                <a:latin typeface="Segoe UI Semibold"/>
              </a:rPr>
              <a:t>1</a:t>
            </a:r>
          </a:p>
        </p:txBody>
      </p:sp>
      <p:sp>
        <p:nvSpPr>
          <p:cNvPr id="12" name="TextBox 11"/>
          <p:cNvSpPr txBox="1"/>
          <p:nvPr/>
        </p:nvSpPr>
        <p:spPr>
          <a:xfrm>
            <a:off x="713232" y="2743199"/>
            <a:ext cx="2276856" cy="457200"/>
          </a:xfrm>
          <a:prstGeom prst="rect">
            <a:avLst/>
          </a:prstGeom>
          <a:noFill/>
        </p:spPr>
        <p:txBody>
          <a:bodyPr wrap="square" anchor="t" lIns="0" rIns="0" tIns="0" bIns="0">
            <a:spAutoFit/>
          </a:bodyPr>
          <a:lstStyle/>
          <a:p>
            <a:pPr algn="l">
              <a:lnSpc>
                <a:spcPct val="100000"/>
              </a:lnSpc>
            </a:pPr>
            <a:r>
              <a:rPr sz="1450" b="1" i="0">
                <a:solidFill>
                  <a:srgbClr val="0B1F3A"/>
                </a:solidFill>
                <a:latin typeface="Segoe UI Semibold"/>
              </a:rPr>
              <a:t>THU THẬP</a:t>
            </a:r>
          </a:p>
        </p:txBody>
      </p:sp>
      <p:sp>
        <p:nvSpPr>
          <p:cNvPr id="13" name="TextBox 12"/>
          <p:cNvSpPr txBox="1"/>
          <p:nvPr/>
        </p:nvSpPr>
        <p:spPr>
          <a:xfrm>
            <a:off x="713232" y="3172967"/>
            <a:ext cx="2276856" cy="1463040"/>
          </a:xfrm>
          <a:prstGeom prst="rect">
            <a:avLst/>
          </a:prstGeom>
          <a:noFill/>
        </p:spPr>
        <p:txBody>
          <a:bodyPr wrap="square" anchor="t" lIns="0" rIns="0" tIns="0" bIns="0">
            <a:spAutoFit/>
          </a:bodyPr>
          <a:lstStyle/>
          <a:p>
            <a:pPr algn="l">
              <a:lnSpc>
                <a:spcPct val="115000"/>
              </a:lnSpc>
            </a:pPr>
            <a:r>
              <a:rPr sz="1100" b="0" i="0">
                <a:solidFill>
                  <a:srgbClr val="6B7280"/>
                </a:solidFill>
                <a:latin typeface="Segoe UI"/>
              </a:rPr>
              <a:t>7 loại nguồn: Google Play, App Store, Facebook, TikTok, tin tức, website ngân hàng, LinkedIn — chạy theo lịch riêng từng nguồn, tự tiếp tục từ điểm dừng.</a:t>
            </a:r>
          </a:p>
        </p:txBody>
      </p:sp>
      <p:sp>
        <p:nvSpPr>
          <p:cNvPr id="14" name="TextBox 13"/>
          <p:cNvSpPr txBox="1"/>
          <p:nvPr/>
        </p:nvSpPr>
        <p:spPr>
          <a:xfrm>
            <a:off x="3172968" y="3108959"/>
            <a:ext cx="237744" cy="365760"/>
          </a:xfrm>
          <a:prstGeom prst="rect">
            <a:avLst/>
          </a:prstGeom>
          <a:noFill/>
        </p:spPr>
        <p:txBody>
          <a:bodyPr wrap="square" anchor="t" lIns="0" rIns="0" tIns="0" bIns="0">
            <a:spAutoFit/>
          </a:bodyPr>
          <a:lstStyle/>
          <a:p>
            <a:pPr algn="ctr">
              <a:lnSpc>
                <a:spcPct val="100000"/>
              </a:lnSpc>
            </a:pPr>
            <a:r>
              <a:rPr sz="2000" b="1" i="0">
                <a:solidFill>
                  <a:srgbClr val="1E8E84"/>
                </a:solidFill>
                <a:latin typeface="Segoe UI"/>
              </a:rPr>
              <a:t>→</a:t>
            </a:r>
          </a:p>
        </p:txBody>
      </p:sp>
      <p:sp>
        <p:nvSpPr>
          <p:cNvPr id="15" name="Rectangle 14"/>
          <p:cNvSpPr/>
          <p:nvPr/>
        </p:nvSpPr>
        <p:spPr>
          <a:xfrm>
            <a:off x="3410712" y="1874519"/>
            <a:ext cx="2606040" cy="2834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10712" y="1874519"/>
            <a:ext cx="2606040" cy="54864"/>
          </a:xfrm>
          <a:prstGeom prst="rect">
            <a:avLst/>
          </a:prstGeom>
          <a:solidFill>
            <a:srgbClr val="1E8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575304" y="2103119"/>
            <a:ext cx="502920" cy="502920"/>
          </a:xfrm>
          <a:prstGeom prst="ellipse">
            <a:avLst/>
          </a:prstGeom>
          <a:solidFill>
            <a:srgbClr val="1E8E8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00" b="1">
                <a:solidFill>
                  <a:srgbClr val="FFFFFF"/>
                </a:solidFill>
                <a:latin typeface="Segoe UI Semibold"/>
              </a:rPr>
              <a:t>2</a:t>
            </a:r>
          </a:p>
        </p:txBody>
      </p:sp>
      <p:sp>
        <p:nvSpPr>
          <p:cNvPr id="18" name="TextBox 17"/>
          <p:cNvSpPr txBox="1"/>
          <p:nvPr/>
        </p:nvSpPr>
        <p:spPr>
          <a:xfrm>
            <a:off x="3575304" y="2743199"/>
            <a:ext cx="2276856" cy="457200"/>
          </a:xfrm>
          <a:prstGeom prst="rect">
            <a:avLst/>
          </a:prstGeom>
          <a:noFill/>
        </p:spPr>
        <p:txBody>
          <a:bodyPr wrap="square" anchor="t" lIns="0" rIns="0" tIns="0" bIns="0">
            <a:spAutoFit/>
          </a:bodyPr>
          <a:lstStyle/>
          <a:p>
            <a:pPr algn="l">
              <a:lnSpc>
                <a:spcPct val="100000"/>
              </a:lnSpc>
            </a:pPr>
            <a:r>
              <a:rPr sz="1450" b="1" i="0">
                <a:solidFill>
                  <a:srgbClr val="0B1F3A"/>
                </a:solidFill>
                <a:latin typeface="Segoe UI Semibold"/>
              </a:rPr>
              <a:t>XỬ LÝ THÔ</a:t>
            </a:r>
          </a:p>
        </p:txBody>
      </p:sp>
      <p:sp>
        <p:nvSpPr>
          <p:cNvPr id="19" name="TextBox 18"/>
          <p:cNvSpPr txBox="1"/>
          <p:nvPr/>
        </p:nvSpPr>
        <p:spPr>
          <a:xfrm>
            <a:off x="3575304" y="3172967"/>
            <a:ext cx="2276856" cy="1463040"/>
          </a:xfrm>
          <a:prstGeom prst="rect">
            <a:avLst/>
          </a:prstGeom>
          <a:noFill/>
        </p:spPr>
        <p:txBody>
          <a:bodyPr wrap="square" anchor="t" lIns="0" rIns="0" tIns="0" bIns="0">
            <a:spAutoFit/>
          </a:bodyPr>
          <a:lstStyle/>
          <a:p>
            <a:pPr algn="l">
              <a:lnSpc>
                <a:spcPct val="115000"/>
              </a:lnSpc>
            </a:pPr>
            <a:r>
              <a:rPr sz="1100" b="0" i="0">
                <a:solidFill>
                  <a:srgbClr val="6B7280"/>
                </a:solidFill>
                <a:latin typeface="Segoe UI"/>
              </a:rPr>
              <a:t>Làm sạch văn bản, nhận diện ngôn ngữ, lọc spam, khử trùng lặp trong batch và giữa các nguồn/chủ đề.</a:t>
            </a:r>
          </a:p>
        </p:txBody>
      </p:sp>
      <p:sp>
        <p:nvSpPr>
          <p:cNvPr id="20" name="TextBox 19"/>
          <p:cNvSpPr txBox="1"/>
          <p:nvPr/>
        </p:nvSpPr>
        <p:spPr>
          <a:xfrm>
            <a:off x="6035040" y="3108959"/>
            <a:ext cx="237744" cy="365760"/>
          </a:xfrm>
          <a:prstGeom prst="rect">
            <a:avLst/>
          </a:prstGeom>
          <a:noFill/>
        </p:spPr>
        <p:txBody>
          <a:bodyPr wrap="square" anchor="t" lIns="0" rIns="0" tIns="0" bIns="0">
            <a:spAutoFit/>
          </a:bodyPr>
          <a:lstStyle/>
          <a:p>
            <a:pPr algn="ctr">
              <a:lnSpc>
                <a:spcPct val="100000"/>
              </a:lnSpc>
            </a:pPr>
            <a:r>
              <a:rPr sz="2000" b="1" i="0">
                <a:solidFill>
                  <a:srgbClr val="1E8E84"/>
                </a:solidFill>
                <a:latin typeface="Segoe UI"/>
              </a:rPr>
              <a:t>→</a:t>
            </a:r>
          </a:p>
        </p:txBody>
      </p:sp>
      <p:sp>
        <p:nvSpPr>
          <p:cNvPr id="21" name="Rectangle 20"/>
          <p:cNvSpPr/>
          <p:nvPr/>
        </p:nvSpPr>
        <p:spPr>
          <a:xfrm>
            <a:off x="6272784" y="1874519"/>
            <a:ext cx="2606040" cy="2834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72784" y="1874519"/>
            <a:ext cx="2606040" cy="54864"/>
          </a:xfrm>
          <a:prstGeom prst="rect">
            <a:avLst/>
          </a:prstGeom>
          <a:solidFill>
            <a:srgbClr val="112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2103119"/>
            <a:ext cx="502920" cy="502920"/>
          </a:xfrm>
          <a:prstGeom prst="ellipse">
            <a:avLst/>
          </a:prstGeom>
          <a:solidFill>
            <a:srgbClr val="112E5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00" b="1">
                <a:solidFill>
                  <a:srgbClr val="FFFFFF"/>
                </a:solidFill>
                <a:latin typeface="Segoe UI Semibold"/>
              </a:rPr>
              <a:t>3</a:t>
            </a:r>
          </a:p>
        </p:txBody>
      </p:sp>
      <p:sp>
        <p:nvSpPr>
          <p:cNvPr id="24" name="TextBox 23"/>
          <p:cNvSpPr txBox="1"/>
          <p:nvPr/>
        </p:nvSpPr>
        <p:spPr>
          <a:xfrm>
            <a:off x="6437376" y="2743199"/>
            <a:ext cx="2276856" cy="457200"/>
          </a:xfrm>
          <a:prstGeom prst="rect">
            <a:avLst/>
          </a:prstGeom>
          <a:noFill/>
        </p:spPr>
        <p:txBody>
          <a:bodyPr wrap="square" anchor="t" lIns="0" rIns="0" tIns="0" bIns="0">
            <a:spAutoFit/>
          </a:bodyPr>
          <a:lstStyle/>
          <a:p>
            <a:pPr algn="l">
              <a:lnSpc>
                <a:spcPct val="100000"/>
              </a:lnSpc>
            </a:pPr>
            <a:r>
              <a:rPr sz="1450" b="1" i="0">
                <a:solidFill>
                  <a:srgbClr val="0B1F3A"/>
                </a:solidFill>
                <a:latin typeface="Segoe UI Semibold"/>
              </a:rPr>
              <a:t>PHÂN TÍCH AI</a:t>
            </a:r>
          </a:p>
        </p:txBody>
      </p:sp>
      <p:sp>
        <p:nvSpPr>
          <p:cNvPr id="25" name="TextBox 24"/>
          <p:cNvSpPr txBox="1"/>
          <p:nvPr/>
        </p:nvSpPr>
        <p:spPr>
          <a:xfrm>
            <a:off x="6437376" y="3172967"/>
            <a:ext cx="2276856" cy="1463040"/>
          </a:xfrm>
          <a:prstGeom prst="rect">
            <a:avLst/>
          </a:prstGeom>
          <a:noFill/>
        </p:spPr>
        <p:txBody>
          <a:bodyPr wrap="square" anchor="t" lIns="0" rIns="0" tIns="0" bIns="0">
            <a:spAutoFit/>
          </a:bodyPr>
          <a:lstStyle/>
          <a:p>
            <a:pPr algn="l">
              <a:lnSpc>
                <a:spcPct val="115000"/>
              </a:lnSpc>
            </a:pPr>
            <a:r>
              <a:rPr sz="1100" b="0" i="0">
                <a:solidFill>
                  <a:srgbClr val="6B7280"/>
                </a:solidFill>
                <a:latin typeface="Segoe UI"/>
              </a:rPr>
              <a:t>4 agent nối tiếp: Phân loại → Đối chiếu quy định → Đồng thuận → Kiểm tra chéo bằng model khác họ kiến trúc.</a:t>
            </a:r>
          </a:p>
        </p:txBody>
      </p:sp>
      <p:sp>
        <p:nvSpPr>
          <p:cNvPr id="26" name="TextBox 25"/>
          <p:cNvSpPr txBox="1"/>
          <p:nvPr/>
        </p:nvSpPr>
        <p:spPr>
          <a:xfrm>
            <a:off x="8897112" y="3108959"/>
            <a:ext cx="237744" cy="365760"/>
          </a:xfrm>
          <a:prstGeom prst="rect">
            <a:avLst/>
          </a:prstGeom>
          <a:noFill/>
        </p:spPr>
        <p:txBody>
          <a:bodyPr wrap="square" anchor="t" lIns="0" rIns="0" tIns="0" bIns="0">
            <a:spAutoFit/>
          </a:bodyPr>
          <a:lstStyle/>
          <a:p>
            <a:pPr algn="ctr">
              <a:lnSpc>
                <a:spcPct val="100000"/>
              </a:lnSpc>
            </a:pPr>
            <a:r>
              <a:rPr sz="2000" b="1" i="0">
                <a:solidFill>
                  <a:srgbClr val="1E8E84"/>
                </a:solidFill>
                <a:latin typeface="Segoe UI"/>
              </a:rPr>
              <a:t>→</a:t>
            </a:r>
          </a:p>
        </p:txBody>
      </p:sp>
      <p:sp>
        <p:nvSpPr>
          <p:cNvPr id="27" name="Rectangle 26"/>
          <p:cNvSpPr/>
          <p:nvPr/>
        </p:nvSpPr>
        <p:spPr>
          <a:xfrm>
            <a:off x="9134856" y="1874519"/>
            <a:ext cx="2606040" cy="2834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134856" y="1874519"/>
            <a:ext cx="2606040" cy="54864"/>
          </a:xfrm>
          <a:prstGeom prst="rect">
            <a:avLst/>
          </a:prstGeom>
          <a:solidFill>
            <a:srgbClr val="2A5C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299448" y="2103119"/>
            <a:ext cx="502920" cy="502920"/>
          </a:xfrm>
          <a:prstGeom prst="ellipse">
            <a:avLst/>
          </a:prstGeom>
          <a:solidFill>
            <a:srgbClr val="2A5C4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000" b="1">
                <a:solidFill>
                  <a:srgbClr val="FFFFFF"/>
                </a:solidFill>
                <a:latin typeface="Segoe UI Semibold"/>
              </a:rPr>
              <a:t>4</a:t>
            </a:r>
          </a:p>
        </p:txBody>
      </p:sp>
      <p:sp>
        <p:nvSpPr>
          <p:cNvPr id="30" name="TextBox 29"/>
          <p:cNvSpPr txBox="1"/>
          <p:nvPr/>
        </p:nvSpPr>
        <p:spPr>
          <a:xfrm>
            <a:off x="9299448" y="2743199"/>
            <a:ext cx="2276856" cy="457200"/>
          </a:xfrm>
          <a:prstGeom prst="rect">
            <a:avLst/>
          </a:prstGeom>
          <a:noFill/>
        </p:spPr>
        <p:txBody>
          <a:bodyPr wrap="square" anchor="t" lIns="0" rIns="0" tIns="0" bIns="0">
            <a:spAutoFit/>
          </a:bodyPr>
          <a:lstStyle/>
          <a:p>
            <a:pPr algn="l">
              <a:lnSpc>
                <a:spcPct val="100000"/>
              </a:lnSpc>
            </a:pPr>
            <a:r>
              <a:rPr sz="1450" b="1" i="0">
                <a:solidFill>
                  <a:srgbClr val="0B1F3A"/>
                </a:solidFill>
                <a:latin typeface="Segoe UI Semibold"/>
              </a:rPr>
              <a:t>GOM NHÓM &amp; CẢNH BÁO</a:t>
            </a:r>
          </a:p>
        </p:txBody>
      </p:sp>
      <p:sp>
        <p:nvSpPr>
          <p:cNvPr id="31" name="TextBox 30"/>
          <p:cNvSpPr txBox="1"/>
          <p:nvPr/>
        </p:nvSpPr>
        <p:spPr>
          <a:xfrm>
            <a:off x="9299448" y="3172967"/>
            <a:ext cx="2276856" cy="1463040"/>
          </a:xfrm>
          <a:prstGeom prst="rect">
            <a:avLst/>
          </a:prstGeom>
          <a:noFill/>
        </p:spPr>
        <p:txBody>
          <a:bodyPr wrap="square" anchor="t" lIns="0" rIns="0" tIns="0" bIns="0">
            <a:spAutoFit/>
          </a:bodyPr>
          <a:lstStyle/>
          <a:p>
            <a:pPr algn="l">
              <a:lnSpc>
                <a:spcPct val="115000"/>
              </a:lnSpc>
            </a:pPr>
            <a:r>
              <a:rPr sz="1100" b="0" i="0">
                <a:solidFill>
                  <a:srgbClr val="6B7280"/>
                </a:solidFill>
                <a:latin typeface="Segoe UI"/>
              </a:rPr>
              <a:t>Gom review thành “pain point”, gắn SLA theo mức độ nghiêm trọng, tự thông báo khi vượt ngưỡng.</a:t>
            </a:r>
          </a:p>
        </p:txBody>
      </p:sp>
      <p:sp>
        <p:nvSpPr>
          <p:cNvPr id="32" name="TextBox 31"/>
          <p:cNvSpPr txBox="1"/>
          <p:nvPr/>
        </p:nvSpPr>
        <p:spPr>
          <a:xfrm>
            <a:off x="548640" y="5074920"/>
            <a:ext cx="10972800" cy="457200"/>
          </a:xfrm>
          <a:prstGeom prst="rect">
            <a:avLst/>
          </a:prstGeom>
          <a:noFill/>
        </p:spPr>
        <p:txBody>
          <a:bodyPr wrap="square" anchor="t" lIns="0" rIns="0" tIns="0" bIns="0">
            <a:spAutoFit/>
          </a:bodyPr>
          <a:lstStyle/>
          <a:p>
            <a:pPr algn="l">
              <a:lnSpc>
                <a:spcPct val="100000"/>
              </a:lnSpc>
            </a:pPr>
            <a:r>
              <a:rPr sz="1250" b="0" i="1">
                <a:solidFill>
                  <a:srgbClr val="6B7280"/>
                </a:solidFill>
                <a:latin typeface="Segoe UI"/>
              </a:rPr>
              <a:t>Dữ liệu không mất giữa chừng: review được lưu ngay ở giai đoạn 2, dù giai đoạn 3 (tốn quota LLM) chưa kịp phân tích.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38100"/>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0058400" cy="274320"/>
          </a:xfrm>
          <a:prstGeom prst="rect">
            <a:avLst/>
          </a:prstGeom>
          <a:noFill/>
        </p:spPr>
        <p:txBody>
          <a:bodyPr wrap="square" anchor="t" lIns="0" rIns="0" tIns="0" bIns="0">
            <a:spAutoFit/>
          </a:bodyPr>
          <a:lstStyle/>
          <a:p>
            <a:pPr algn="l">
              <a:lnSpc>
                <a:spcPct val="100000"/>
              </a:lnSpc>
            </a:pPr>
            <a:r>
              <a:rPr sz="1150" b="1" i="0">
                <a:solidFill>
                  <a:srgbClr val="2EC4B6"/>
                </a:solidFill>
                <a:latin typeface="Segoe UI Semibold"/>
              </a:rPr>
              <a:t>NĂNG LỰC HIỆN CÓ</a:t>
            </a:r>
          </a:p>
        </p:txBody>
      </p:sp>
      <p:sp>
        <p:nvSpPr>
          <p:cNvPr id="5" name="TextBox 4"/>
          <p:cNvSpPr txBox="1"/>
          <p:nvPr/>
        </p:nvSpPr>
        <p:spPr>
          <a:xfrm>
            <a:off x="548640" y="420624"/>
            <a:ext cx="10972800" cy="640080"/>
          </a:xfrm>
          <a:prstGeom prst="rect">
            <a:avLst/>
          </a:prstGeom>
          <a:noFill/>
        </p:spPr>
        <p:txBody>
          <a:bodyPr wrap="square" anchor="t" lIns="0" rIns="0" tIns="0" bIns="0">
            <a:spAutoFit/>
          </a:bodyPr>
          <a:lstStyle/>
          <a:p>
            <a:pPr algn="l">
              <a:lnSpc>
                <a:spcPct val="100000"/>
              </a:lnSpc>
            </a:pPr>
            <a:r>
              <a:rPr sz="2700" b="1" i="0">
                <a:solidFill>
                  <a:srgbClr val="FFFFFF"/>
                </a:solidFill>
                <a:latin typeface="Segoe UI Semibold"/>
              </a:rPr>
              <a:t>Đã triển khai thật — không phải kế hoạch trên giấy</a:t>
            </a:r>
          </a:p>
        </p:txBody>
      </p:sp>
      <p:sp>
        <p:nvSpPr>
          <p:cNvPr id="6" name="Rectangle 5"/>
          <p:cNvSpPr/>
          <p:nvPr/>
        </p:nvSpPr>
        <p:spPr>
          <a:xfrm>
            <a:off x="0" y="6565392"/>
            <a:ext cx="12191695" cy="292608"/>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65392"/>
            <a:ext cx="7315200" cy="292608"/>
          </a:xfrm>
          <a:prstGeom prst="rect">
            <a:avLst/>
          </a:prstGeom>
          <a:noFill/>
        </p:spPr>
        <p:txBody>
          <a:bodyPr wrap="square" anchor="ctr" lIns="0" rIns="0" tIns="0" bIns="0">
            <a:spAutoFit/>
          </a:bodyPr>
          <a:lstStyle/>
          <a:p>
            <a:pPr algn="l">
              <a:lnSpc>
                <a:spcPct val="100000"/>
              </a:lnSpc>
            </a:pPr>
            <a:r>
              <a:rPr sz="900" b="0" i="0">
                <a:solidFill>
                  <a:srgbClr val="B9C4D6"/>
                </a:solidFill>
                <a:latin typeface="Segoe UI"/>
              </a:rPr>
              <a:t>VigiBank  ·  Năng lực hiện có</a:t>
            </a:r>
          </a:p>
        </p:txBody>
      </p:sp>
      <p:sp>
        <p:nvSpPr>
          <p:cNvPr id="8" name="TextBox 7"/>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B9C4D6"/>
                </a:solidFill>
                <a:latin typeface="Segoe UI"/>
              </a:rPr>
              <a:t>3</a:t>
            </a:r>
          </a:p>
        </p:txBody>
      </p:sp>
      <p:sp>
        <p:nvSpPr>
          <p:cNvPr id="9" name="Rectangle 8"/>
          <p:cNvSpPr/>
          <p:nvPr/>
        </p:nvSpPr>
        <p:spPr>
          <a:xfrm>
            <a:off x="548640" y="1600200"/>
            <a:ext cx="5440680" cy="4572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72200" y="1600200"/>
            <a:ext cx="5440680" cy="4572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783080"/>
            <a:ext cx="4937760" cy="365760"/>
          </a:xfrm>
          <a:prstGeom prst="rect">
            <a:avLst/>
          </a:prstGeom>
          <a:noFill/>
        </p:spPr>
        <p:txBody>
          <a:bodyPr wrap="square" anchor="t" lIns="0" rIns="0" tIns="0" bIns="0">
            <a:spAutoFit/>
          </a:bodyPr>
          <a:lstStyle/>
          <a:p>
            <a:pPr algn="l">
              <a:lnSpc>
                <a:spcPct val="100000"/>
              </a:lnSpc>
            </a:pPr>
            <a:r>
              <a:rPr sz="1400" b="1" i="0">
                <a:solidFill>
                  <a:srgbClr val="0B1F3A"/>
                </a:solidFill>
                <a:latin typeface="Segoe UI Semibold"/>
              </a:rPr>
              <a:t>Thu thập &amp; xử lý dữ liệu</a:t>
            </a:r>
          </a:p>
        </p:txBody>
      </p:sp>
      <p:sp>
        <p:nvSpPr>
          <p:cNvPr id="12" name="TextBox 11"/>
          <p:cNvSpPr txBox="1"/>
          <p:nvPr/>
        </p:nvSpPr>
        <p:spPr>
          <a:xfrm>
            <a:off x="822960" y="2286000"/>
            <a:ext cx="4937760" cy="3749039"/>
          </a:xfrm>
          <a:prstGeom prst="rect">
            <a:avLst/>
          </a:prstGeom>
          <a:noFill/>
        </p:spPr>
        <p:txBody>
          <a:bodyPr wrap="square" lIns="0" rIns="0" tIns="0" bIns="0">
            <a:spAutoFit/>
          </a:bodyPr>
          <a:lstStyle/>
          <a:p>
            <a:pPr>
              <a:lnSpc>
                <a:spcPct val="108000"/>
              </a:lnSpc>
              <a:spcAft>
                <a:spcPts val="1600"/>
              </a:spcAft>
            </a:pPr>
            <a:r>
              <a:rPr sz="1350" b="1">
                <a:solidFill>
                  <a:srgbClr val="1E8E84"/>
                </a:solidFill>
                <a:latin typeface="Segoe UI"/>
              </a:rPr>
              <a:t>—  </a:t>
            </a:r>
            <a:r>
              <a:rPr sz="1350">
                <a:solidFill>
                  <a:srgbClr val="1A1D29"/>
                </a:solidFill>
                <a:latin typeface="Segoe UI"/>
              </a:rPr>
              <a:t>7 nguồn dữ liệu tự động, thu thập incremental (không quét lại từ đầu mỗi chu kỳ)</a:t>
            </a:r>
          </a:p>
          <a:p>
            <a:pPr>
              <a:lnSpc>
                <a:spcPct val="108000"/>
              </a:lnSpc>
              <a:spcAft>
                <a:spcPts val="1600"/>
              </a:spcAft>
            </a:pPr>
            <a:r>
              <a:rPr sz="1350" b="1">
                <a:solidFill>
                  <a:srgbClr val="1E8E84"/>
                </a:solidFill>
                <a:latin typeface="Segoe UI"/>
              </a:rPr>
              <a:t>—  </a:t>
            </a:r>
            <a:r>
              <a:rPr sz="1350">
                <a:solidFill>
                  <a:srgbClr val="1A1D29"/>
                </a:solidFill>
                <a:latin typeface="Segoe UI"/>
              </a:rPr>
              <a:t>Khử trùng lặp 4 lớp: trong batch, nội dung đăng lại, trùng định danh giữa các chủ đề theo dõi</a:t>
            </a:r>
          </a:p>
          <a:p>
            <a:pPr>
              <a:lnSpc>
                <a:spcPct val="108000"/>
              </a:lnSpc>
              <a:spcAft>
                <a:spcPts val="1600"/>
              </a:spcAft>
            </a:pPr>
            <a:r>
              <a:rPr sz="1350" b="1">
                <a:solidFill>
                  <a:srgbClr val="1E8E84"/>
                </a:solidFill>
                <a:latin typeface="Segoe UI"/>
              </a:rPr>
              <a:t>—  </a:t>
            </a:r>
            <a:r>
              <a:rPr sz="1350">
                <a:solidFill>
                  <a:srgbClr val="1A1D29"/>
                </a:solidFill>
                <a:latin typeface="Segoe UI"/>
              </a:rPr>
              <a:t>Multi-agent kiểm chứng chéo: Phân loại → Đối chiếu → Đồng thuận → Cross-Check bằng 2 model khác họ kiến trúc</a:t>
            </a:r>
          </a:p>
          <a:p>
            <a:pPr>
              <a:lnSpc>
                <a:spcPct val="108000"/>
              </a:lnSpc>
              <a:spcAft>
                <a:spcPts val="1600"/>
              </a:spcAft>
            </a:pPr>
            <a:r>
              <a:rPr sz="1350" b="1">
                <a:solidFill>
                  <a:srgbClr val="1E8E84"/>
                </a:solidFill>
                <a:latin typeface="Segoe UI"/>
              </a:rPr>
              <a:t>—  </a:t>
            </a:r>
            <a:r>
              <a:rPr sz="1350">
                <a:solidFill>
                  <a:srgbClr val="1A1D29"/>
                </a:solidFill>
                <a:latin typeface="Segoe UI"/>
              </a:rPr>
              <a:t>Chuỗi fallback đa model × đa API key, tự chuyển khi hết quota — giữ hệ thống chạy liên tục với ngân sách miễn phí</a:t>
            </a:r>
          </a:p>
        </p:txBody>
      </p:sp>
      <p:sp>
        <p:nvSpPr>
          <p:cNvPr id="13" name="TextBox 12"/>
          <p:cNvSpPr txBox="1"/>
          <p:nvPr/>
        </p:nvSpPr>
        <p:spPr>
          <a:xfrm>
            <a:off x="6446520" y="1783080"/>
            <a:ext cx="4937760" cy="365760"/>
          </a:xfrm>
          <a:prstGeom prst="rect">
            <a:avLst/>
          </a:prstGeom>
          <a:noFill/>
        </p:spPr>
        <p:txBody>
          <a:bodyPr wrap="square" anchor="t" lIns="0" rIns="0" tIns="0" bIns="0">
            <a:spAutoFit/>
          </a:bodyPr>
          <a:lstStyle/>
          <a:p>
            <a:pPr algn="l">
              <a:lnSpc>
                <a:spcPct val="100000"/>
              </a:lnSpc>
            </a:pPr>
            <a:r>
              <a:rPr sz="1400" b="1" i="0">
                <a:solidFill>
                  <a:srgbClr val="0B1F3A"/>
                </a:solidFill>
                <a:latin typeface="Segoe UI Semibold"/>
              </a:rPr>
              <a:t>Phân tích, vận hành &amp; thương mại hoá</a:t>
            </a:r>
          </a:p>
        </p:txBody>
      </p:sp>
      <p:sp>
        <p:nvSpPr>
          <p:cNvPr id="14" name="TextBox 13"/>
          <p:cNvSpPr txBox="1"/>
          <p:nvPr/>
        </p:nvSpPr>
        <p:spPr>
          <a:xfrm>
            <a:off x="6446520" y="2286000"/>
            <a:ext cx="4937760" cy="3749039"/>
          </a:xfrm>
          <a:prstGeom prst="rect">
            <a:avLst/>
          </a:prstGeom>
          <a:noFill/>
        </p:spPr>
        <p:txBody>
          <a:bodyPr wrap="square" lIns="0" rIns="0" tIns="0" bIns="0">
            <a:spAutoFit/>
          </a:bodyPr>
          <a:lstStyle/>
          <a:p>
            <a:pPr>
              <a:lnSpc>
                <a:spcPct val="108000"/>
              </a:lnSpc>
              <a:spcAft>
                <a:spcPts val="1600"/>
              </a:spcAft>
            </a:pPr>
            <a:r>
              <a:rPr sz="1350" b="1">
                <a:solidFill>
                  <a:srgbClr val="1E8E84"/>
                </a:solidFill>
                <a:latin typeface="Segoe UI"/>
              </a:rPr>
              <a:t>—  </a:t>
            </a:r>
            <a:r>
              <a:rPr sz="1350">
                <a:solidFill>
                  <a:srgbClr val="1A1D29"/>
                </a:solidFill>
                <a:latin typeface="Segoe UI"/>
              </a:rPr>
              <a:t>Đối chiếu tự động với quy định NHNN và tài liệu chính thức riêng của từng ngân hàng</a:t>
            </a:r>
          </a:p>
          <a:p>
            <a:pPr>
              <a:lnSpc>
                <a:spcPct val="108000"/>
              </a:lnSpc>
              <a:spcAft>
                <a:spcPts val="1600"/>
              </a:spcAft>
            </a:pPr>
            <a:r>
              <a:rPr sz="1350" b="1">
                <a:solidFill>
                  <a:srgbClr val="1E8E84"/>
                </a:solidFill>
                <a:latin typeface="Segoe UI"/>
              </a:rPr>
              <a:t>—  </a:t>
            </a:r>
            <a:r>
              <a:rPr sz="1350">
                <a:solidFill>
                  <a:srgbClr val="1A1D29"/>
                </a:solidFill>
                <a:latin typeface="Segoe UI"/>
              </a:rPr>
              <a:t>Gom cụm “pain point”, gắn SLA tự động theo mức độ nghiêm trọng (24h / 72h / 7 ngày)</a:t>
            </a:r>
          </a:p>
          <a:p>
            <a:pPr>
              <a:lnSpc>
                <a:spcPct val="108000"/>
              </a:lnSpc>
              <a:spcAft>
                <a:spcPts val="1600"/>
              </a:spcAft>
            </a:pPr>
            <a:r>
              <a:rPr sz="1350" b="1">
                <a:solidFill>
                  <a:srgbClr val="1E8E84"/>
                </a:solidFill>
                <a:latin typeface="Segoe UI"/>
              </a:rPr>
              <a:t>—  </a:t>
            </a:r>
            <a:r>
              <a:rPr sz="1350">
                <a:solidFill>
                  <a:srgbClr val="1A1D29"/>
                </a:solidFill>
                <a:latin typeface="Segoe UI"/>
              </a:rPr>
              <a:t>Thông báo khi vượt ngưỡng, phân công xử lý theo phòng ban, bản tin tổng hợp hàng ngày</a:t>
            </a:r>
          </a:p>
          <a:p>
            <a:pPr>
              <a:lnSpc>
                <a:spcPct val="108000"/>
              </a:lnSpc>
              <a:spcAft>
                <a:spcPts val="1600"/>
              </a:spcAft>
            </a:pPr>
            <a:r>
              <a:rPr sz="1350" b="1">
                <a:solidFill>
                  <a:srgbClr val="1E8E84"/>
                </a:solidFill>
                <a:latin typeface="Segoe UI"/>
              </a:rPr>
              <a:t>—  </a:t>
            </a:r>
            <a:r>
              <a:rPr sz="1350">
                <a:solidFill>
                  <a:srgbClr val="1A1D29"/>
                </a:solidFill>
                <a:latin typeface="Segoe UI"/>
              </a:rPr>
              <a:t>Kiến trúc multi-tenant: gói dùng thử có giới hạn, thanh toán nâng cấp qua VNPay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38100"/>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0058400" cy="274320"/>
          </a:xfrm>
          <a:prstGeom prst="rect">
            <a:avLst/>
          </a:prstGeom>
          <a:noFill/>
        </p:spPr>
        <p:txBody>
          <a:bodyPr wrap="square" anchor="t" lIns="0" rIns="0" tIns="0" bIns="0">
            <a:spAutoFit/>
          </a:bodyPr>
          <a:lstStyle/>
          <a:p>
            <a:pPr algn="l">
              <a:lnSpc>
                <a:spcPct val="100000"/>
              </a:lnSpc>
            </a:pPr>
            <a:r>
              <a:rPr sz="1150" b="1" i="0">
                <a:solidFill>
                  <a:srgbClr val="2EC4B6"/>
                </a:solidFill>
                <a:latin typeface="Segoe UI Semibold"/>
              </a:rPr>
              <a:t>SO SÁNH THỊ TRƯỜNG</a:t>
            </a:r>
          </a:p>
        </p:txBody>
      </p:sp>
      <p:sp>
        <p:nvSpPr>
          <p:cNvPr id="5" name="TextBox 4"/>
          <p:cNvSpPr txBox="1"/>
          <p:nvPr/>
        </p:nvSpPr>
        <p:spPr>
          <a:xfrm>
            <a:off x="548640" y="420624"/>
            <a:ext cx="10972800" cy="640080"/>
          </a:xfrm>
          <a:prstGeom prst="rect">
            <a:avLst/>
          </a:prstGeom>
          <a:noFill/>
        </p:spPr>
        <p:txBody>
          <a:bodyPr wrap="square" anchor="t" lIns="0" rIns="0" tIns="0" bIns="0">
            <a:spAutoFit/>
          </a:bodyPr>
          <a:lstStyle/>
          <a:p>
            <a:pPr algn="l">
              <a:lnSpc>
                <a:spcPct val="100000"/>
              </a:lnSpc>
            </a:pPr>
            <a:r>
              <a:rPr sz="2700" b="1" i="0">
                <a:solidFill>
                  <a:srgbClr val="FFFFFF"/>
                </a:solidFill>
                <a:latin typeface="Segoe UI Semibold"/>
              </a:rPr>
              <a:t>VigiBank so với các giải pháp Social Listening hiện có</a:t>
            </a:r>
          </a:p>
        </p:txBody>
      </p:sp>
      <p:sp>
        <p:nvSpPr>
          <p:cNvPr id="6" name="Rectangle 5"/>
          <p:cNvSpPr/>
          <p:nvPr/>
        </p:nvSpPr>
        <p:spPr>
          <a:xfrm>
            <a:off x="0" y="6565392"/>
            <a:ext cx="12191695" cy="292608"/>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65392"/>
            <a:ext cx="7315200" cy="292608"/>
          </a:xfrm>
          <a:prstGeom prst="rect">
            <a:avLst/>
          </a:prstGeom>
          <a:noFill/>
        </p:spPr>
        <p:txBody>
          <a:bodyPr wrap="square" anchor="ctr" lIns="0" rIns="0" tIns="0" bIns="0">
            <a:spAutoFit/>
          </a:bodyPr>
          <a:lstStyle/>
          <a:p>
            <a:pPr algn="l">
              <a:lnSpc>
                <a:spcPct val="100000"/>
              </a:lnSpc>
            </a:pPr>
            <a:r>
              <a:rPr sz="900" b="0" i="0">
                <a:solidFill>
                  <a:srgbClr val="B9C4D6"/>
                </a:solidFill>
                <a:latin typeface="Segoe UI"/>
              </a:rPr>
              <a:t>VigiBank  ·  So sánh thị trường</a:t>
            </a:r>
          </a:p>
        </p:txBody>
      </p:sp>
      <p:sp>
        <p:nvSpPr>
          <p:cNvPr id="8" name="TextBox 7"/>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B9C4D6"/>
                </a:solidFill>
                <a:latin typeface="Segoe UI"/>
              </a:rPr>
              <a:t>4</a:t>
            </a:r>
          </a:p>
        </p:txBody>
      </p:sp>
      <p:graphicFrame>
        <p:nvGraphicFramePr>
          <p:cNvPr id="9" name="Table 8"/>
          <p:cNvGraphicFramePr>
            <a:graphicFrameLocks noGrp="1"/>
          </p:cNvGraphicFramePr>
          <p:nvPr/>
        </p:nvGraphicFramePr>
        <p:xfrm>
          <a:off x="457200" y="1508760"/>
          <a:ext cx="11292840" cy="4535424"/>
        </p:xfrm>
        <a:graphic>
          <a:graphicData uri="http://schemas.openxmlformats.org/drawingml/2006/table">
            <a:tbl>
              <a:tblPr firstRow="1" bandRow="1">
                <a:tableStyleId>{5C22544A-7EE6-4342-B048-85BDC9FD1C3A}</a:tableStyleId>
              </a:tblPr>
              <a:tblGrid>
                <a:gridCol w="2651760"/>
                <a:gridCol w="1828800"/>
                <a:gridCol w="2377440"/>
                <a:gridCol w="2331720"/>
                <a:gridCol w="2103120"/>
              </a:tblGrid>
              <a:tr h="566928">
                <a:tc>
                  <a:txBody>
                    <a:bodyPr/>
                    <a:lstStyle/>
                    <a:p>
                      <a:pPr algn="l"/>
                      <a:r>
                        <a:rPr sz="1100" b="1">
                          <a:solidFill>
                            <a:srgbClr val="FFFFFF"/>
                          </a:solidFill>
                          <a:latin typeface="Segoe UI"/>
                        </a:rPr>
                        <a:t>Tiêu chí</a:t>
                      </a:r>
                    </a:p>
                  </a:txBody>
                  <a:tcPr marL="76200" marR="76200" marT="38100" marB="38100" anchor="ctr">
                    <a:solidFill>
                      <a:srgbClr val="0B1F3A"/>
                    </a:solidFill>
                  </a:tcPr>
                </a:tc>
                <a:tc>
                  <a:txBody>
                    <a:bodyPr/>
                    <a:lstStyle/>
                    <a:p>
                      <a:pPr algn="ctr"/>
                      <a:r>
                        <a:rPr sz="1100" b="1">
                          <a:solidFill>
                            <a:srgbClr val="FFFFFF"/>
                          </a:solidFill>
                          <a:latin typeface="Segoe UI"/>
                        </a:rPr>
                        <a:t>VigiBank</a:t>
                      </a:r>
                    </a:p>
                  </a:txBody>
                  <a:tcPr marL="76200" marR="76200" marT="38100" marB="38100" anchor="ctr">
                    <a:solidFill>
                      <a:srgbClr val="2EC4B6"/>
                    </a:solidFill>
                  </a:tcPr>
                </a:tc>
                <a:tc>
                  <a:txBody>
                    <a:bodyPr/>
                    <a:lstStyle/>
                    <a:p>
                      <a:pPr algn="ctr"/>
                      <a:r>
                        <a:rPr sz="1100" b="1">
                          <a:solidFill>
                            <a:srgbClr val="FFFFFF"/>
                          </a:solidFill>
                          <a:latin typeface="Segoe UI"/>
                        </a:rPr>
                        <a:t>Nền tảng quốc tế</a:t>
                      </a:r>
                    </a:p>
                    <a:p>
                      <a:pPr algn="ctr"/>
                      <a:r>
                        <a:rPr sz="1100" b="1">
                          <a:solidFill>
                            <a:srgbClr val="FFFFFF"/>
                          </a:solidFill>
                          <a:latin typeface="Segoe UI"/>
                        </a:rPr>
                        <a:t>(Brandwatch, Talkwalker, Mention...)</a:t>
                      </a:r>
                    </a:p>
                  </a:txBody>
                  <a:tcPr marL="76200" marR="76200" marT="38100" marB="38100" anchor="ctr">
                    <a:solidFill>
                      <a:srgbClr val="0B1F3A"/>
                    </a:solidFill>
                  </a:tcPr>
                </a:tc>
                <a:tc>
                  <a:txBody>
                    <a:bodyPr/>
                    <a:lstStyle/>
                    <a:p>
                      <a:pPr algn="ctr"/>
                      <a:r>
                        <a:rPr sz="1100" b="1">
                          <a:solidFill>
                            <a:srgbClr val="FFFFFF"/>
                          </a:solidFill>
                          <a:latin typeface="Segoe UI"/>
                        </a:rPr>
                        <a:t>Nền tảng nội địa VN</a:t>
                      </a:r>
                    </a:p>
                    <a:p>
                      <a:pPr algn="ctr"/>
                      <a:r>
                        <a:rPr sz="1100" b="1">
                          <a:solidFill>
                            <a:srgbClr val="FFFFFF"/>
                          </a:solidFill>
                          <a:latin typeface="Segoe UI"/>
                        </a:rPr>
                        <a:t>(Reputa, Buzzmetrics, Kompa...)</a:t>
                      </a:r>
                    </a:p>
                  </a:txBody>
                  <a:tcPr marL="76200" marR="76200" marT="38100" marB="38100" anchor="ctr">
                    <a:solidFill>
                      <a:srgbClr val="0B1F3A"/>
                    </a:solidFill>
                  </a:tcPr>
                </a:tc>
                <a:tc>
                  <a:txBody>
                    <a:bodyPr/>
                    <a:lstStyle/>
                    <a:p>
                      <a:pPr algn="ctr"/>
                      <a:r>
                        <a:rPr sz="1100" b="1">
                          <a:solidFill>
                            <a:srgbClr val="FFFFFF"/>
                          </a:solidFill>
                          <a:latin typeface="Segoe UI"/>
                        </a:rPr>
                        <a:t>Tự theo dõi</a:t>
                      </a:r>
                    </a:p>
                    <a:p>
                      <a:pPr algn="ctr"/>
                      <a:r>
                        <a:rPr sz="1100" b="1">
                          <a:solidFill>
                            <a:srgbClr val="FFFFFF"/>
                          </a:solidFill>
                          <a:latin typeface="Segoe UI"/>
                        </a:rPr>
                        <a:t>thủ công</a:t>
                      </a:r>
                    </a:p>
                  </a:txBody>
                  <a:tcPr marL="76200" marR="76200" marT="38100" marB="38100" anchor="ctr">
                    <a:solidFill>
                      <a:srgbClr val="0B1F3A"/>
                    </a:solidFill>
                  </a:tcPr>
                </a:tc>
              </a:tr>
              <a:tr h="566928">
                <a:tc>
                  <a:txBody>
                    <a:bodyPr/>
                    <a:lstStyle/>
                    <a:p>
                      <a:pPr algn="l"/>
                      <a:r>
                        <a:rPr sz="1050" b="1">
                          <a:solidFill>
                            <a:srgbClr val="1A1D29"/>
                          </a:solidFill>
                          <a:latin typeface="Segoe UI"/>
                        </a:rPr>
                        <a:t>Chuyên biệt ngành ngân hàng</a:t>
                      </a:r>
                    </a:p>
                    <a:p>
                      <a:pPr algn="l"/>
                      <a:r>
                        <a:rPr sz="1050" b="1">
                          <a:solidFill>
                            <a:srgbClr val="1A1D29"/>
                          </a:solidFill>
                          <a:latin typeface="Segoe UI"/>
                        </a:rPr>
                        <a:t>(app review, tài liệu chính thức)</a:t>
                      </a:r>
                    </a:p>
                  </a:txBody>
                  <a:tcPr marL="76200" marR="76200" marT="38100" marB="38100" anchor="ctr">
                    <a:solidFill>
                      <a:srgbClr val="FFFFFF"/>
                    </a:solidFill>
                  </a:tcPr>
                </a:tc>
                <a:tc>
                  <a:txBody>
                    <a:bodyPr/>
                    <a:lstStyle/>
                    <a:p>
                      <a:pPr algn="ctr"/>
                      <a:r>
                        <a:rPr sz="1050" b="1">
                          <a:solidFill>
                            <a:srgbClr val="0B1F3A"/>
                          </a:solidFill>
                          <a:latin typeface="Segoe UI"/>
                        </a:rPr>
                        <a:t>Có</a:t>
                      </a:r>
                    </a:p>
                  </a:txBody>
                  <a:tcPr marL="76200" marR="76200" marT="38100" marB="38100" anchor="ctr">
                    <a:solidFill>
                      <a:srgbClr val="DAF3F0"/>
                    </a:solidFill>
                  </a:tcPr>
                </a:tc>
                <a:tc>
                  <a:txBody>
                    <a:bodyPr/>
                    <a:lstStyle/>
                    <a:p>
                      <a:pPr algn="ctr"/>
                      <a:r>
                        <a:rPr sz="1050" b="0">
                          <a:solidFill>
                            <a:srgbClr val="1A1D29"/>
                          </a:solidFill>
                          <a:latin typeface="Segoe UI"/>
                        </a:rPr>
                        <a:t>Không</a:t>
                      </a:r>
                    </a:p>
                  </a:txBody>
                  <a:tcPr marL="76200" marR="76200" marT="38100" marB="38100" anchor="ctr">
                    <a:solidFill>
                      <a:srgbClr val="FFFFFF"/>
                    </a:solidFill>
                  </a:tcPr>
                </a:tc>
                <a:tc>
                  <a:txBody>
                    <a:bodyPr/>
                    <a:lstStyle/>
                    <a:p>
                      <a:pPr algn="ctr"/>
                      <a:r>
                        <a:rPr sz="1050" b="0">
                          <a:solidFill>
                            <a:srgbClr val="1A1D29"/>
                          </a:solidFill>
                          <a:latin typeface="Segoe UI"/>
                        </a:rPr>
                        <a:t>Một phần</a:t>
                      </a:r>
                    </a:p>
                  </a:txBody>
                  <a:tcPr marL="76200" marR="76200" marT="38100" marB="38100" anchor="ctr">
                    <a:solidFill>
                      <a:srgbClr val="FFFFFF"/>
                    </a:solidFill>
                  </a:tcPr>
                </a:tc>
                <a:tc>
                  <a:txBody>
                    <a:bodyPr/>
                    <a:lstStyle/>
                    <a:p>
                      <a:pPr algn="ctr"/>
                      <a:r>
                        <a:rPr sz="1050" b="0">
                          <a:solidFill>
                            <a:srgbClr val="1A1D29"/>
                          </a:solidFill>
                          <a:latin typeface="Segoe UI"/>
                        </a:rPr>
                        <a:t>Không</a:t>
                      </a:r>
                    </a:p>
                  </a:txBody>
                  <a:tcPr marL="76200" marR="76200" marT="38100" marB="38100" anchor="ctr">
                    <a:solidFill>
                      <a:srgbClr val="FFFFFF"/>
                    </a:solidFill>
                  </a:tcPr>
                </a:tc>
              </a:tr>
              <a:tr h="566928">
                <a:tc>
                  <a:txBody>
                    <a:bodyPr/>
                    <a:lstStyle/>
                    <a:p>
                      <a:pPr algn="l"/>
                      <a:r>
                        <a:rPr sz="1050" b="1">
                          <a:solidFill>
                            <a:srgbClr val="1A1D29"/>
                          </a:solidFill>
                          <a:latin typeface="Segoe UI"/>
                        </a:rPr>
                        <a:t>Đối chiếu quy định NHNN /</a:t>
                      </a:r>
                    </a:p>
                    <a:p>
                      <a:pPr algn="l"/>
                      <a:r>
                        <a:rPr sz="1050" b="1">
                          <a:solidFill>
                            <a:srgbClr val="1A1D29"/>
                          </a:solidFill>
                          <a:latin typeface="Segoe UI"/>
                        </a:rPr>
                        <a:t>chính sách nội bộ</a:t>
                      </a:r>
                    </a:p>
                  </a:txBody>
                  <a:tcPr marL="76200" marR="76200" marT="38100" marB="38100" anchor="ctr">
                    <a:solidFill>
                      <a:srgbClr val="EAEEF5"/>
                    </a:solidFill>
                  </a:tcPr>
                </a:tc>
                <a:tc>
                  <a:txBody>
                    <a:bodyPr/>
                    <a:lstStyle/>
                    <a:p>
                      <a:pPr algn="ctr"/>
                      <a:r>
                        <a:rPr sz="1050" b="1">
                          <a:solidFill>
                            <a:srgbClr val="0B1F3A"/>
                          </a:solidFill>
                          <a:latin typeface="Segoe UI"/>
                        </a:rPr>
                        <a:t>Tự động</a:t>
                      </a:r>
                    </a:p>
                  </a:txBody>
                  <a:tcPr marL="76200" marR="76200" marT="38100" marB="38100" anchor="ctr">
                    <a:solidFill>
                      <a:srgbClr val="DAF3F0"/>
                    </a:solidFill>
                  </a:tcPr>
                </a:tc>
                <a:tc>
                  <a:txBody>
                    <a:bodyPr/>
                    <a:lstStyle/>
                    <a:p>
                      <a:pPr algn="ctr"/>
                      <a:r>
                        <a:rPr sz="1050" b="0">
                          <a:solidFill>
                            <a:srgbClr val="1A1D29"/>
                          </a:solidFill>
                          <a:latin typeface="Segoe UI"/>
                        </a:rPr>
                        <a:t>Không</a:t>
                      </a:r>
                    </a:p>
                  </a:txBody>
                  <a:tcPr marL="76200" marR="76200" marT="38100" marB="38100" anchor="ctr">
                    <a:solidFill>
                      <a:srgbClr val="EAEEF5"/>
                    </a:solidFill>
                  </a:tcPr>
                </a:tc>
                <a:tc>
                  <a:txBody>
                    <a:bodyPr/>
                    <a:lstStyle/>
                    <a:p>
                      <a:pPr algn="ctr"/>
                      <a:r>
                        <a:rPr sz="1050" b="0">
                          <a:solidFill>
                            <a:srgbClr val="1A1D29"/>
                          </a:solidFill>
                          <a:latin typeface="Segoe UI"/>
                        </a:rPr>
                        <a:t>Không</a:t>
                      </a:r>
                    </a:p>
                  </a:txBody>
                  <a:tcPr marL="76200" marR="76200" marT="38100" marB="38100" anchor="ctr">
                    <a:solidFill>
                      <a:srgbClr val="EAEEF5"/>
                    </a:solidFill>
                  </a:tcPr>
                </a:tc>
                <a:tc>
                  <a:txBody>
                    <a:bodyPr/>
                    <a:lstStyle/>
                    <a:p>
                      <a:pPr algn="ctr"/>
                      <a:r>
                        <a:rPr sz="1050" b="0">
                          <a:solidFill>
                            <a:srgbClr val="1A1D29"/>
                          </a:solidFill>
                          <a:latin typeface="Segoe UI"/>
                        </a:rPr>
                        <a:t>Thủ công, tốn nhân lực</a:t>
                      </a:r>
                    </a:p>
                  </a:txBody>
                  <a:tcPr marL="76200" marR="76200" marT="38100" marB="38100" anchor="ctr">
                    <a:solidFill>
                      <a:srgbClr val="EAEEF5"/>
                    </a:solidFill>
                  </a:tcPr>
                </a:tc>
              </a:tr>
              <a:tr h="566928">
                <a:tc>
                  <a:txBody>
                    <a:bodyPr/>
                    <a:lstStyle/>
                    <a:p>
                      <a:pPr algn="l"/>
                      <a:r>
                        <a:rPr sz="1050" b="1">
                          <a:solidFill>
                            <a:srgbClr val="1A1D29"/>
                          </a:solidFill>
                          <a:latin typeface="Segoe UI"/>
                        </a:rPr>
                        <a:t>Gom “pain point” + SLA xử lý</a:t>
                      </a:r>
                    </a:p>
                    <a:p>
                      <a:pPr algn="l"/>
                      <a:r>
                        <a:rPr sz="1050" b="1">
                          <a:solidFill>
                            <a:srgbClr val="1A1D29"/>
                          </a:solidFill>
                          <a:latin typeface="Segoe UI"/>
                        </a:rPr>
                        <a:t>theo phòng ban</a:t>
                      </a:r>
                    </a:p>
                  </a:txBody>
                  <a:tcPr marL="76200" marR="76200" marT="38100" marB="38100" anchor="ctr">
                    <a:solidFill>
                      <a:srgbClr val="FFFFFF"/>
                    </a:solidFill>
                  </a:tcPr>
                </a:tc>
                <a:tc>
                  <a:txBody>
                    <a:bodyPr/>
                    <a:lstStyle/>
                    <a:p>
                      <a:pPr algn="ctr"/>
                      <a:r>
                        <a:rPr sz="1050" b="1">
                          <a:solidFill>
                            <a:srgbClr val="0B1F3A"/>
                          </a:solidFill>
                          <a:latin typeface="Segoe UI"/>
                        </a:rPr>
                        <a:t>Có</a:t>
                      </a:r>
                    </a:p>
                  </a:txBody>
                  <a:tcPr marL="76200" marR="76200" marT="38100" marB="38100" anchor="ctr">
                    <a:solidFill>
                      <a:srgbClr val="DAF3F0"/>
                    </a:solidFill>
                  </a:tcPr>
                </a:tc>
                <a:tc>
                  <a:txBody>
                    <a:bodyPr/>
                    <a:lstStyle/>
                    <a:p>
                      <a:pPr algn="ctr"/>
                      <a:r>
                        <a:rPr sz="1050" b="0">
                          <a:solidFill>
                            <a:srgbClr val="1A1D29"/>
                          </a:solidFill>
                          <a:latin typeface="Segoe UI"/>
                        </a:rPr>
                        <a:t>Một phần</a:t>
                      </a:r>
                    </a:p>
                  </a:txBody>
                  <a:tcPr marL="76200" marR="76200" marT="38100" marB="38100" anchor="ctr">
                    <a:solidFill>
                      <a:srgbClr val="FFFFFF"/>
                    </a:solidFill>
                  </a:tcPr>
                </a:tc>
                <a:tc>
                  <a:txBody>
                    <a:bodyPr/>
                    <a:lstStyle/>
                    <a:p>
                      <a:pPr algn="ctr"/>
                      <a:r>
                        <a:rPr sz="1050" b="0">
                          <a:solidFill>
                            <a:srgbClr val="1A1D29"/>
                          </a:solidFill>
                          <a:latin typeface="Segoe UI"/>
                        </a:rPr>
                        <a:t>Một phần</a:t>
                      </a:r>
                    </a:p>
                  </a:txBody>
                  <a:tcPr marL="76200" marR="76200" marT="38100" marB="38100" anchor="ctr">
                    <a:solidFill>
                      <a:srgbClr val="FFFFFF"/>
                    </a:solidFill>
                  </a:tcPr>
                </a:tc>
                <a:tc>
                  <a:txBody>
                    <a:bodyPr/>
                    <a:lstStyle/>
                    <a:p>
                      <a:pPr algn="ctr"/>
                      <a:r>
                        <a:rPr sz="1050" b="0">
                          <a:solidFill>
                            <a:srgbClr val="1A1D29"/>
                          </a:solidFill>
                          <a:latin typeface="Segoe UI"/>
                        </a:rPr>
                        <a:t>Không</a:t>
                      </a:r>
                    </a:p>
                  </a:txBody>
                  <a:tcPr marL="76200" marR="76200" marT="38100" marB="38100" anchor="ctr">
                    <a:solidFill>
                      <a:srgbClr val="FFFFFF"/>
                    </a:solidFill>
                  </a:tcPr>
                </a:tc>
              </a:tr>
              <a:tr h="566928">
                <a:tc>
                  <a:txBody>
                    <a:bodyPr/>
                    <a:lstStyle/>
                    <a:p>
                      <a:pPr algn="l"/>
                      <a:r>
                        <a:rPr sz="1050" b="1">
                          <a:solidFill>
                            <a:srgbClr val="1A1D29"/>
                          </a:solidFill>
                          <a:latin typeface="Segoe UI"/>
                        </a:rPr>
                        <a:t>Kiểm chứng chéo đa model</a:t>
                      </a:r>
                    </a:p>
                    <a:p>
                      <a:pPr algn="l"/>
                      <a:r>
                        <a:rPr sz="1050" b="1">
                          <a:solidFill>
                            <a:srgbClr val="1A1D29"/>
                          </a:solidFill>
                          <a:latin typeface="Segoe UI"/>
                        </a:rPr>
                        <a:t>(giảm sai/ảo giác AI)</a:t>
                      </a:r>
                    </a:p>
                  </a:txBody>
                  <a:tcPr marL="76200" marR="76200" marT="38100" marB="38100" anchor="ctr">
                    <a:solidFill>
                      <a:srgbClr val="EAEEF5"/>
                    </a:solidFill>
                  </a:tcPr>
                </a:tc>
                <a:tc>
                  <a:txBody>
                    <a:bodyPr/>
                    <a:lstStyle/>
                    <a:p>
                      <a:pPr algn="ctr"/>
                      <a:r>
                        <a:rPr sz="1050" b="1">
                          <a:solidFill>
                            <a:srgbClr val="0B1F3A"/>
                          </a:solidFill>
                          <a:latin typeface="Segoe UI"/>
                        </a:rPr>
                        <a:t>Có (2 model)</a:t>
                      </a:r>
                    </a:p>
                  </a:txBody>
                  <a:tcPr marL="76200" marR="76200" marT="38100" marB="38100" anchor="ctr">
                    <a:solidFill>
                      <a:srgbClr val="DAF3F0"/>
                    </a:solidFill>
                  </a:tcPr>
                </a:tc>
                <a:tc>
                  <a:txBody>
                    <a:bodyPr/>
                    <a:lstStyle/>
                    <a:p>
                      <a:pPr algn="ctr"/>
                      <a:r>
                        <a:rPr sz="1050" b="0">
                          <a:solidFill>
                            <a:srgbClr val="1A1D29"/>
                          </a:solidFill>
                          <a:latin typeface="Segoe UI"/>
                        </a:rPr>
                        <a:t>Không công bố</a:t>
                      </a:r>
                    </a:p>
                  </a:txBody>
                  <a:tcPr marL="76200" marR="76200" marT="38100" marB="38100" anchor="ctr">
                    <a:solidFill>
                      <a:srgbClr val="EAEEF5"/>
                    </a:solidFill>
                  </a:tcPr>
                </a:tc>
                <a:tc>
                  <a:txBody>
                    <a:bodyPr/>
                    <a:lstStyle/>
                    <a:p>
                      <a:pPr algn="ctr"/>
                      <a:r>
                        <a:rPr sz="1050" b="0">
                          <a:solidFill>
                            <a:srgbClr val="1A1D29"/>
                          </a:solidFill>
                          <a:latin typeface="Segoe UI"/>
                        </a:rPr>
                        <a:t>Không công bố</a:t>
                      </a:r>
                    </a:p>
                  </a:txBody>
                  <a:tcPr marL="76200" marR="76200" marT="38100" marB="38100" anchor="ctr">
                    <a:solidFill>
                      <a:srgbClr val="EAEEF5"/>
                    </a:solidFill>
                  </a:tcPr>
                </a:tc>
                <a:tc>
                  <a:txBody>
                    <a:bodyPr/>
                    <a:lstStyle/>
                    <a:p>
                      <a:pPr algn="ctr"/>
                      <a:r>
                        <a:rPr sz="1050" b="0">
                          <a:solidFill>
                            <a:srgbClr val="1A1D29"/>
                          </a:solidFill>
                          <a:latin typeface="Segoe UI"/>
                        </a:rPr>
                        <a:t>Không</a:t>
                      </a:r>
                    </a:p>
                  </a:txBody>
                  <a:tcPr marL="76200" marR="76200" marT="38100" marB="38100" anchor="ctr">
                    <a:solidFill>
                      <a:srgbClr val="EAEEF5"/>
                    </a:solidFill>
                  </a:tcPr>
                </a:tc>
              </a:tr>
              <a:tr h="566928">
                <a:tc>
                  <a:txBody>
                    <a:bodyPr/>
                    <a:lstStyle/>
                    <a:p>
                      <a:pPr algn="l"/>
                      <a:r>
                        <a:rPr sz="1050" b="1">
                          <a:solidFill>
                            <a:srgbClr val="1A1D29"/>
                          </a:solidFill>
                          <a:latin typeface="Segoe UI"/>
                        </a:rPr>
                        <a:t>Chiều sâu tiếng Việt &amp;</a:t>
                      </a:r>
                    </a:p>
                    <a:p>
                      <a:pPr algn="l"/>
                      <a:r>
                        <a:rPr sz="1050" b="1">
                          <a:solidFill>
                            <a:srgbClr val="1A1D29"/>
                          </a:solidFill>
                          <a:latin typeface="Segoe UI"/>
                        </a:rPr>
                        <a:t>văn hoá bản địa</a:t>
                      </a:r>
                    </a:p>
                  </a:txBody>
                  <a:tcPr marL="76200" marR="76200" marT="38100" marB="38100" anchor="ctr">
                    <a:solidFill>
                      <a:srgbClr val="FFFFFF"/>
                    </a:solidFill>
                  </a:tcPr>
                </a:tc>
                <a:tc>
                  <a:txBody>
                    <a:bodyPr/>
                    <a:lstStyle/>
                    <a:p>
                      <a:pPr algn="ctr"/>
                      <a:r>
                        <a:rPr sz="1050" b="1">
                          <a:solidFill>
                            <a:srgbClr val="0B1F3A"/>
                          </a:solidFill>
                          <a:latin typeface="Segoe UI"/>
                        </a:rPr>
                        <a:t>Cao</a:t>
                      </a:r>
                    </a:p>
                  </a:txBody>
                  <a:tcPr marL="76200" marR="76200" marT="38100" marB="38100" anchor="ctr">
                    <a:solidFill>
                      <a:srgbClr val="DAF3F0"/>
                    </a:solidFill>
                  </a:tcPr>
                </a:tc>
                <a:tc>
                  <a:txBody>
                    <a:bodyPr/>
                    <a:lstStyle/>
                    <a:p>
                      <a:pPr algn="ctr"/>
                      <a:r>
                        <a:rPr sz="1050" b="0">
                          <a:solidFill>
                            <a:srgbClr val="1A1D29"/>
                          </a:solidFill>
                          <a:latin typeface="Segoe UI"/>
                        </a:rPr>
                        <a:t>Trung bình</a:t>
                      </a:r>
                    </a:p>
                  </a:txBody>
                  <a:tcPr marL="76200" marR="76200" marT="38100" marB="38100" anchor="ctr">
                    <a:solidFill>
                      <a:srgbClr val="FFFFFF"/>
                    </a:solidFill>
                  </a:tcPr>
                </a:tc>
                <a:tc>
                  <a:txBody>
                    <a:bodyPr/>
                    <a:lstStyle/>
                    <a:p>
                      <a:pPr algn="ctr"/>
                      <a:r>
                        <a:rPr sz="1050" b="0">
                          <a:solidFill>
                            <a:srgbClr val="1A1D29"/>
                          </a:solidFill>
                          <a:latin typeface="Segoe UI"/>
                        </a:rPr>
                        <a:t>Cao</a:t>
                      </a:r>
                    </a:p>
                  </a:txBody>
                  <a:tcPr marL="76200" marR="76200" marT="38100" marB="38100" anchor="ctr">
                    <a:solidFill>
                      <a:srgbClr val="FFFFFF"/>
                    </a:solidFill>
                  </a:tcPr>
                </a:tc>
                <a:tc>
                  <a:txBody>
                    <a:bodyPr/>
                    <a:lstStyle/>
                    <a:p>
                      <a:pPr algn="ctr"/>
                      <a:r>
                        <a:rPr sz="1050" b="0">
                          <a:solidFill>
                            <a:srgbClr val="1A1D29"/>
                          </a:solidFill>
                          <a:latin typeface="Segoe UI"/>
                        </a:rPr>
                        <a:t>Tuỳ người</a:t>
                      </a:r>
                    </a:p>
                  </a:txBody>
                  <a:tcPr marL="76200" marR="76200" marT="38100" marB="38100" anchor="ctr">
                    <a:solidFill>
                      <a:srgbClr val="FFFFFF"/>
                    </a:solidFill>
                  </a:tcPr>
                </a:tc>
              </a:tr>
              <a:tr h="566928">
                <a:tc>
                  <a:txBody>
                    <a:bodyPr/>
                    <a:lstStyle/>
                    <a:p>
                      <a:pPr algn="l"/>
                      <a:r>
                        <a:rPr sz="1050" b="1">
                          <a:solidFill>
                            <a:srgbClr val="1A1D29"/>
                          </a:solidFill>
                          <a:latin typeface="Segoe UI"/>
                        </a:rPr>
                        <a:t>Chi phí phần mềm /tháng</a:t>
                      </a:r>
                    </a:p>
                  </a:txBody>
                  <a:tcPr marL="76200" marR="76200" marT="38100" marB="38100" anchor="ctr">
                    <a:solidFill>
                      <a:srgbClr val="EAEEF5"/>
                    </a:solidFill>
                  </a:tcPr>
                </a:tc>
                <a:tc>
                  <a:txBody>
                    <a:bodyPr/>
                    <a:lstStyle/>
                    <a:p>
                      <a:pPr algn="ctr"/>
                      <a:r>
                        <a:rPr sz="1050" b="1">
                          <a:solidFill>
                            <a:srgbClr val="0B1F3A"/>
                          </a:solidFill>
                          <a:latin typeface="Segoe UI"/>
                        </a:rPr>
                        <a:t>Thấp – trung bình</a:t>
                      </a:r>
                    </a:p>
                  </a:txBody>
                  <a:tcPr marL="76200" marR="76200" marT="38100" marB="38100" anchor="ctr">
                    <a:solidFill>
                      <a:srgbClr val="DAF3F0"/>
                    </a:solidFill>
                  </a:tcPr>
                </a:tc>
                <a:tc>
                  <a:txBody>
                    <a:bodyPr/>
                    <a:lstStyle/>
                    <a:p>
                      <a:pPr algn="ctr"/>
                      <a:r>
                        <a:rPr sz="1050" b="0">
                          <a:solidFill>
                            <a:srgbClr val="1A1D29"/>
                          </a:solidFill>
                          <a:latin typeface="Segoe UI"/>
                        </a:rPr>
                        <a:t>Rất cao</a:t>
                      </a:r>
                    </a:p>
                    <a:p>
                      <a:pPr algn="ctr"/>
                      <a:r>
                        <a:rPr sz="1050" b="0">
                          <a:solidFill>
                            <a:srgbClr val="1A1D29"/>
                          </a:solidFill>
                          <a:latin typeface="Segoe UI"/>
                        </a:rPr>
                        <a:t>(theo bảng giá công khai)</a:t>
                      </a:r>
                    </a:p>
                  </a:txBody>
                  <a:tcPr marL="76200" marR="76200" marT="38100" marB="38100" anchor="ctr">
                    <a:solidFill>
                      <a:srgbClr val="EAEEF5"/>
                    </a:solidFill>
                  </a:tcPr>
                </a:tc>
                <a:tc>
                  <a:txBody>
                    <a:bodyPr/>
                    <a:lstStyle/>
                    <a:p>
                      <a:pPr algn="ctr"/>
                      <a:r>
                        <a:rPr sz="1050" b="0">
                          <a:solidFill>
                            <a:srgbClr val="1A1D29"/>
                          </a:solidFill>
                          <a:latin typeface="Segoe UI"/>
                        </a:rPr>
                        <a:t>Trung bình – cao</a:t>
                      </a:r>
                    </a:p>
                  </a:txBody>
                  <a:tcPr marL="76200" marR="76200" marT="38100" marB="38100" anchor="ctr">
                    <a:solidFill>
                      <a:srgbClr val="EAEEF5"/>
                    </a:solidFill>
                  </a:tcPr>
                </a:tc>
                <a:tc>
                  <a:txBody>
                    <a:bodyPr/>
                    <a:lstStyle/>
                    <a:p>
                      <a:pPr algn="ctr"/>
                      <a:r>
                        <a:rPr sz="1050" b="0">
                          <a:solidFill>
                            <a:srgbClr val="1A1D29"/>
                          </a:solidFill>
                          <a:latin typeface="Segoe UI"/>
                        </a:rPr>
                        <a:t>~0đ, ẩn phí nhân sự</a:t>
                      </a:r>
                    </a:p>
                  </a:txBody>
                  <a:tcPr marL="76200" marR="76200" marT="38100" marB="38100" anchor="ctr">
                    <a:solidFill>
                      <a:srgbClr val="EAEEF5"/>
                    </a:solidFill>
                  </a:tcPr>
                </a:tc>
              </a:tr>
              <a:tr h="566928">
                <a:tc>
                  <a:txBody>
                    <a:bodyPr/>
                    <a:lstStyle/>
                    <a:p>
                      <a:pPr algn="l"/>
                      <a:r>
                        <a:rPr sz="1050" b="1">
                          <a:solidFill>
                            <a:srgbClr val="1A1D29"/>
                          </a:solidFill>
                          <a:latin typeface="Segoe UI"/>
                        </a:rPr>
                        <a:t>Độ trưởng thành / uy tín</a:t>
                      </a:r>
                    </a:p>
                    <a:p>
                      <a:pPr algn="l"/>
                      <a:r>
                        <a:rPr sz="1050" b="1">
                          <a:solidFill>
                            <a:srgbClr val="1A1D29"/>
                          </a:solidFill>
                          <a:latin typeface="Segoe UI"/>
                        </a:rPr>
                        <a:t>trên thị trường</a:t>
                      </a:r>
                    </a:p>
                  </a:txBody>
                  <a:tcPr marL="76200" marR="76200" marT="38100" marB="38100" anchor="ctr">
                    <a:solidFill>
                      <a:srgbClr val="FFFFFF"/>
                    </a:solidFill>
                  </a:tcPr>
                </a:tc>
                <a:tc>
                  <a:txBody>
                    <a:bodyPr/>
                    <a:lstStyle/>
                    <a:p>
                      <a:pPr algn="ctr"/>
                      <a:r>
                        <a:rPr sz="1050" b="1">
                          <a:solidFill>
                            <a:srgbClr val="0B1F3A"/>
                          </a:solidFill>
                          <a:latin typeface="Segoe UI"/>
                        </a:rPr>
                        <a:t>Mới, đang phát triển</a:t>
                      </a:r>
                    </a:p>
                  </a:txBody>
                  <a:tcPr marL="76200" marR="76200" marT="38100" marB="38100" anchor="ctr">
                    <a:solidFill>
                      <a:srgbClr val="DAF3F0"/>
                    </a:solidFill>
                  </a:tcPr>
                </a:tc>
                <a:tc>
                  <a:txBody>
                    <a:bodyPr/>
                    <a:lstStyle/>
                    <a:p>
                      <a:pPr algn="ctr"/>
                      <a:r>
                        <a:rPr sz="1050" b="0">
                          <a:solidFill>
                            <a:srgbClr val="1A1D29"/>
                          </a:solidFill>
                          <a:latin typeface="Segoe UI"/>
                        </a:rPr>
                        <a:t>Rất trưởng thành</a:t>
                      </a:r>
                    </a:p>
                  </a:txBody>
                  <a:tcPr marL="76200" marR="76200" marT="38100" marB="38100" anchor="ctr">
                    <a:solidFill>
                      <a:srgbClr val="FFFFFF"/>
                    </a:solidFill>
                  </a:tcPr>
                </a:tc>
                <a:tc>
                  <a:txBody>
                    <a:bodyPr/>
                    <a:lstStyle/>
                    <a:p>
                      <a:pPr algn="ctr"/>
                      <a:r>
                        <a:rPr sz="1050" b="0">
                          <a:solidFill>
                            <a:srgbClr val="1A1D29"/>
                          </a:solidFill>
                          <a:latin typeface="Segoe UI"/>
                        </a:rPr>
                        <a:t>Trưởng thành</a:t>
                      </a:r>
                    </a:p>
                  </a:txBody>
                  <a:tcPr marL="76200" marR="76200" marT="38100" marB="38100" anchor="ctr">
                    <a:solidFill>
                      <a:srgbClr val="FFFFFF"/>
                    </a:solidFill>
                  </a:tcPr>
                </a:tc>
                <a:tc>
                  <a:txBody>
                    <a:bodyPr/>
                    <a:lstStyle/>
                    <a:p>
                      <a:pPr algn="ctr"/>
                      <a:r>
                        <a:rPr sz="1050" b="0">
                          <a:solidFill>
                            <a:srgbClr val="1A1D29"/>
                          </a:solidFill>
                          <a:latin typeface="Segoe UI"/>
                        </a:rPr>
                        <a:t>N/A</a:t>
                      </a:r>
                    </a:p>
                  </a:txBody>
                  <a:tcPr marL="76200" marR="76200" marT="38100" marB="38100" anchor="ctr">
                    <a:solidFill>
                      <a:srgbClr val="FFFFFF"/>
                    </a:solidFill>
                  </a:tcPr>
                </a:tc>
              </a:tr>
            </a:tbl>
          </a:graphicData>
        </a:graphic>
      </p:graphicFrame>
      <p:sp>
        <p:nvSpPr>
          <p:cNvPr id="10" name="TextBox 9"/>
          <p:cNvSpPr txBox="1"/>
          <p:nvPr/>
        </p:nvSpPr>
        <p:spPr>
          <a:xfrm>
            <a:off x="457200" y="6345936"/>
            <a:ext cx="11247120" cy="201168"/>
          </a:xfrm>
          <a:prstGeom prst="rect">
            <a:avLst/>
          </a:prstGeom>
          <a:noFill/>
        </p:spPr>
        <p:txBody>
          <a:bodyPr wrap="square" anchor="t" lIns="0" rIns="0" tIns="0" bIns="0">
            <a:spAutoFit/>
          </a:bodyPr>
          <a:lstStyle/>
          <a:p>
            <a:pPr algn="l">
              <a:lnSpc>
                <a:spcPct val="100000"/>
              </a:lnSpc>
            </a:pPr>
            <a:r>
              <a:rPr sz="950" b="0" i="1">
                <a:solidFill>
                  <a:srgbClr val="6B7280"/>
                </a:solidFill>
                <a:latin typeface="Segoe UI"/>
              </a:rPr>
              <a:t>Đánh giá trung lập: VigiBank chưa bằng các nền tảng lớn về độ trưởng thành, nhưng vượt trội ở chiều sâu chuyên ngành ngân hàng và chi phí.</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2606040"/>
            <a:ext cx="82296" cy="1554480"/>
          </a:xfrm>
          <a:prstGeom prst="rect">
            <a:avLst/>
          </a:prstGeom>
          <a:solidFill>
            <a:srgbClr val="C837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103120"/>
            <a:ext cx="10515600" cy="365760"/>
          </a:xfrm>
          <a:prstGeom prst="rect">
            <a:avLst/>
          </a:prstGeom>
          <a:noFill/>
        </p:spPr>
        <p:txBody>
          <a:bodyPr wrap="square" anchor="t" lIns="0" rIns="0" tIns="0" bIns="0">
            <a:spAutoFit/>
          </a:bodyPr>
          <a:lstStyle/>
          <a:p>
            <a:pPr algn="l">
              <a:lnSpc>
                <a:spcPct val="100000"/>
              </a:lnSpc>
            </a:pPr>
            <a:r>
              <a:rPr sz="1400" b="1" i="0">
                <a:solidFill>
                  <a:srgbClr val="C8373D"/>
                </a:solidFill>
                <a:latin typeface="Segoe UI Semibold"/>
              </a:rPr>
              <a:t>CÂU HỎI THẲNG THẮN</a:t>
            </a:r>
          </a:p>
        </p:txBody>
      </p:sp>
      <p:sp>
        <p:nvSpPr>
          <p:cNvPr id="5" name="TextBox 4"/>
          <p:cNvSpPr txBox="1"/>
          <p:nvPr/>
        </p:nvSpPr>
        <p:spPr>
          <a:xfrm>
            <a:off x="822960" y="2514600"/>
            <a:ext cx="10881360" cy="1920240"/>
          </a:xfrm>
          <a:prstGeom prst="rect">
            <a:avLst/>
          </a:prstGeom>
          <a:noFill/>
        </p:spPr>
        <p:txBody>
          <a:bodyPr wrap="square" anchor="t" lIns="0" rIns="0" tIns="0" bIns="0">
            <a:spAutoFit/>
          </a:bodyPr>
          <a:lstStyle/>
          <a:p>
            <a:pPr algn="l">
              <a:lnSpc>
                <a:spcPct val="118000"/>
              </a:lnSpc>
            </a:pPr>
            <a:r>
              <a:rPr sz="3000" b="1" i="0">
                <a:solidFill>
                  <a:srgbClr val="FFFFFF"/>
                </a:solidFill>
                <a:latin typeface="Segoe UI Semibold"/>
              </a:rPr>
              <a:t>“ChatGPT giờ đã có Pro + Deep Research, tự nghiên cứu sâu trong vài phút —</a:t>
            </a:r>
          </a:p>
          <a:p>
            <a:pPr algn="l">
              <a:lnSpc>
                <a:spcPct val="118000"/>
              </a:lnSpc>
            </a:pPr>
            <a:r>
              <a:rPr sz="3000" b="1" i="0">
                <a:solidFill>
                  <a:srgbClr val="FFFFFF"/>
                </a:solidFill>
                <a:latin typeface="Segoe UI Semibold"/>
              </a:rPr>
              <a:t>vậy hệ thống này còn cần thiết không?”</a:t>
            </a:r>
          </a:p>
        </p:txBody>
      </p:sp>
      <p:sp>
        <p:nvSpPr>
          <p:cNvPr id="6" name="TextBox 5"/>
          <p:cNvSpPr txBox="1"/>
          <p:nvPr/>
        </p:nvSpPr>
        <p:spPr>
          <a:xfrm>
            <a:off x="868680" y="4572000"/>
            <a:ext cx="9875520" cy="548640"/>
          </a:xfrm>
          <a:prstGeom prst="rect">
            <a:avLst/>
          </a:prstGeom>
          <a:noFill/>
        </p:spPr>
        <p:txBody>
          <a:bodyPr wrap="square" anchor="t" lIns="0" rIns="0" tIns="0" bIns="0">
            <a:spAutoFit/>
          </a:bodyPr>
          <a:lstStyle/>
          <a:p>
            <a:pPr algn="l">
              <a:lnSpc>
                <a:spcPct val="100000"/>
              </a:lnSpc>
            </a:pPr>
            <a:r>
              <a:rPr sz="1500" b="0" i="1">
                <a:solidFill>
                  <a:srgbClr val="AFBED6"/>
                </a:solidFill>
                <a:latin typeface="Segoe UI"/>
              </a:rPr>
              <a:t>Đây là phiên bản “khó nhằn” nhất của câu hỏi này — nên cần trả lời bằng dữ kiện kỹ thuật cụ thể, không phải bằng marketing.</a:t>
            </a:r>
          </a:p>
        </p:txBody>
      </p:sp>
      <p:sp>
        <p:nvSpPr>
          <p:cNvPr id="7" name="Rectangle 6"/>
          <p:cNvSpPr/>
          <p:nvPr/>
        </p:nvSpPr>
        <p:spPr>
          <a:xfrm>
            <a:off x="0" y="6565392"/>
            <a:ext cx="12191695" cy="292608"/>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65392"/>
            <a:ext cx="7315200" cy="292608"/>
          </a:xfrm>
          <a:prstGeom prst="rect">
            <a:avLst/>
          </a:prstGeom>
          <a:noFill/>
        </p:spPr>
        <p:txBody>
          <a:bodyPr wrap="square" anchor="ctr" lIns="0" rIns="0" tIns="0" bIns="0">
            <a:spAutoFit/>
          </a:bodyPr>
          <a:lstStyle/>
          <a:p>
            <a:pPr algn="l">
              <a:lnSpc>
                <a:spcPct val="100000"/>
              </a:lnSpc>
            </a:pPr>
            <a:r>
              <a:rPr sz="900" b="0" i="0">
                <a:solidFill>
                  <a:srgbClr val="B9C4D6"/>
                </a:solidFill>
                <a:latin typeface="Segoe UI"/>
              </a:rPr>
              <a:t>VigiBank  ·  So sánh: ChatGPT Pro</a:t>
            </a:r>
          </a:p>
        </p:txBody>
      </p:sp>
      <p:sp>
        <p:nvSpPr>
          <p:cNvPr id="9" name="TextBox 8"/>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B9C4D6"/>
                </a:solidFill>
                <a:latin typeface="Segoe UI"/>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38100"/>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0058400" cy="274320"/>
          </a:xfrm>
          <a:prstGeom prst="rect">
            <a:avLst/>
          </a:prstGeom>
          <a:noFill/>
        </p:spPr>
        <p:txBody>
          <a:bodyPr wrap="square" anchor="t" lIns="0" rIns="0" tIns="0" bIns="0">
            <a:spAutoFit/>
          </a:bodyPr>
          <a:lstStyle/>
          <a:p>
            <a:pPr algn="l">
              <a:lnSpc>
                <a:spcPct val="100000"/>
              </a:lnSpc>
            </a:pPr>
            <a:r>
              <a:rPr sz="1150" b="1" i="0">
                <a:solidFill>
                  <a:srgbClr val="2EC4B6"/>
                </a:solidFill>
                <a:latin typeface="Segoe UI Semibold"/>
              </a:rPr>
              <a:t>SO SÁNH: CHATGPT PRO</a:t>
            </a:r>
          </a:p>
        </p:txBody>
      </p:sp>
      <p:sp>
        <p:nvSpPr>
          <p:cNvPr id="5" name="TextBox 4"/>
          <p:cNvSpPr txBox="1"/>
          <p:nvPr/>
        </p:nvSpPr>
        <p:spPr>
          <a:xfrm>
            <a:off x="548640" y="420624"/>
            <a:ext cx="10972800" cy="640080"/>
          </a:xfrm>
          <a:prstGeom prst="rect">
            <a:avLst/>
          </a:prstGeom>
          <a:noFill/>
        </p:spPr>
        <p:txBody>
          <a:bodyPr wrap="square" anchor="t" lIns="0" rIns="0" tIns="0" bIns="0">
            <a:spAutoFit/>
          </a:bodyPr>
          <a:lstStyle/>
          <a:p>
            <a:pPr algn="l">
              <a:lnSpc>
                <a:spcPct val="100000"/>
              </a:lnSpc>
            </a:pPr>
            <a:r>
              <a:rPr sz="2700" b="1" i="0">
                <a:solidFill>
                  <a:srgbClr val="FFFFFF"/>
                </a:solidFill>
                <a:latin typeface="Segoe UI Semibold"/>
              </a:rPr>
              <a:t>Sự thật về ChatGPT Pro + Deep Research</a:t>
            </a:r>
          </a:p>
        </p:txBody>
      </p:sp>
      <p:sp>
        <p:nvSpPr>
          <p:cNvPr id="6" name="Rectangle 5"/>
          <p:cNvSpPr/>
          <p:nvPr/>
        </p:nvSpPr>
        <p:spPr>
          <a:xfrm>
            <a:off x="0" y="6565392"/>
            <a:ext cx="12191695" cy="292608"/>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65392"/>
            <a:ext cx="7315200" cy="292608"/>
          </a:xfrm>
          <a:prstGeom prst="rect">
            <a:avLst/>
          </a:prstGeom>
          <a:noFill/>
        </p:spPr>
        <p:txBody>
          <a:bodyPr wrap="square" anchor="ctr" lIns="0" rIns="0" tIns="0" bIns="0">
            <a:spAutoFit/>
          </a:bodyPr>
          <a:lstStyle/>
          <a:p>
            <a:pPr algn="l">
              <a:lnSpc>
                <a:spcPct val="100000"/>
              </a:lnSpc>
            </a:pPr>
            <a:r>
              <a:rPr sz="900" b="0" i="0">
                <a:solidFill>
                  <a:srgbClr val="B9C4D6"/>
                </a:solidFill>
                <a:latin typeface="Segoe UI"/>
              </a:rPr>
              <a:t>VigiBank  ·  So sánh: ChatGPT Pro</a:t>
            </a:r>
          </a:p>
        </p:txBody>
      </p:sp>
      <p:sp>
        <p:nvSpPr>
          <p:cNvPr id="8" name="TextBox 7"/>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B9C4D6"/>
                </a:solidFill>
                <a:latin typeface="Segoe UI"/>
              </a:rPr>
              <a:t>6</a:t>
            </a:r>
          </a:p>
        </p:txBody>
      </p:sp>
      <p:sp>
        <p:nvSpPr>
          <p:cNvPr id="9" name="TextBox 8"/>
          <p:cNvSpPr txBox="1"/>
          <p:nvPr/>
        </p:nvSpPr>
        <p:spPr>
          <a:xfrm>
            <a:off x="548640" y="1600200"/>
            <a:ext cx="10972800" cy="4754880"/>
          </a:xfrm>
          <a:prstGeom prst="rect">
            <a:avLst/>
          </a:prstGeom>
          <a:noFill/>
        </p:spPr>
        <p:txBody>
          <a:bodyPr wrap="square" lIns="0" rIns="0" tIns="0" bIns="0">
            <a:spAutoFit/>
          </a:bodyPr>
          <a:lstStyle/>
          <a:p>
            <a:pPr>
              <a:lnSpc>
                <a:spcPct val="108000"/>
              </a:lnSpc>
              <a:spcAft>
                <a:spcPts val="1700"/>
              </a:spcAft>
            </a:pPr>
            <a:r>
              <a:rPr sz="1450" b="1">
                <a:solidFill>
                  <a:srgbClr val="1E8E84"/>
                </a:solidFill>
                <a:latin typeface="Segoe UI"/>
              </a:rPr>
              <a:t>—  </a:t>
            </a:r>
            <a:r>
              <a:rPr sz="1450">
                <a:solidFill>
                  <a:srgbClr val="1A1D29"/>
                </a:solidFill>
                <a:latin typeface="Segoe UI"/>
              </a:rPr>
              <a:t>Đúng: Deep Research (có trên ChatGPT Plus/Pro) là một bước tiến thật — tự động tìm kiếm, đọc hàng chục trang web, và viết báo cáo tổng hợp có trích dẫn nguồn trong 1 lượt chạy — khác hẳn chat thường chỉ trả lời từ trí nhớ.</a:t>
            </a:r>
          </a:p>
          <a:p>
            <a:pPr>
              <a:lnSpc>
                <a:spcPct val="108000"/>
              </a:lnSpc>
              <a:spcAft>
                <a:spcPts val="1700"/>
              </a:spcAft>
            </a:pPr>
            <a:r>
              <a:rPr sz="1450" b="1">
                <a:solidFill>
                  <a:srgbClr val="1E8E84"/>
                </a:solidFill>
                <a:latin typeface="Segoe UI"/>
              </a:rPr>
              <a:t>—  </a:t>
            </a:r>
            <a:r>
              <a:rPr sz="1450">
                <a:solidFill>
                  <a:srgbClr val="1A1D29"/>
                </a:solidFill>
                <a:latin typeface="Segoe UI"/>
              </a:rPr>
              <a:t>Nhưng: mỗi lượt Deep Research là 1 PHIÊN NGHIÊN CỨU RIÊNG LẼ do người dùng chủ động bấm — mất khoảng 5-30 phút xử lý, và không tự lặp lại định kỳ trừ khi có người quay lại hỏi tiếp.</a:t>
            </a:r>
          </a:p>
          <a:p>
            <a:pPr>
              <a:lnSpc>
                <a:spcPct val="108000"/>
              </a:lnSpc>
              <a:spcAft>
                <a:spcPts val="1700"/>
              </a:spcAft>
            </a:pPr>
            <a:r>
              <a:rPr sz="1450" b="1">
                <a:solidFill>
                  <a:srgbClr val="1E8E84"/>
                </a:solidFill>
                <a:latin typeface="Segoe UI"/>
              </a:rPr>
              <a:t>—  </a:t>
            </a:r>
            <a:r>
              <a:rPr sz="1450">
                <a:solidFill>
                  <a:srgbClr val="1A1D29"/>
                </a:solidFill>
                <a:latin typeface="Segoe UI"/>
              </a:rPr>
              <a:t>Deep Research đọc được nguồn CÔNG KHAI mà công cụ tìm kiếm index được (tin tức, forum, trang review công khai) — nhưng không đăng nhập được vào nhóm Facebook kín, không phân trang hết hàng nghìn review Google Play/App Store như 1 collector chuyên dụng.</a:t>
            </a:r>
          </a:p>
          <a:p>
            <a:pPr>
              <a:lnSpc>
                <a:spcPct val="108000"/>
              </a:lnSpc>
              <a:spcAft>
                <a:spcPts val="1700"/>
              </a:spcAft>
            </a:pPr>
            <a:r>
              <a:rPr sz="1450" b="1">
                <a:solidFill>
                  <a:srgbClr val="1E8E84"/>
                </a:solidFill>
                <a:latin typeface="Segoe UI"/>
              </a:rPr>
              <a:t>—  </a:t>
            </a:r>
            <a:r>
              <a:rPr sz="1450">
                <a:solidFill>
                  <a:srgbClr val="1A1D29"/>
                </a:solidFill>
                <a:latin typeface="Segoe UI"/>
              </a:rPr>
              <a:t>Không có bộ nhớ giữa các lần chạy: muốn so sánh “tuần này tệ hơn tuần trước bao nhiêu” vẫn phải tự lưu kết quả cũ và dán lại — không có CSDL lịch sử tự động như 1 hệ thống giám sát.</a:t>
            </a:r>
          </a:p>
          <a:p>
            <a:pPr>
              <a:lnSpc>
                <a:spcPct val="108000"/>
              </a:lnSpc>
              <a:spcAft>
                <a:spcPts val="1700"/>
              </a:spcAft>
            </a:pPr>
            <a:r>
              <a:rPr sz="1450" b="1">
                <a:solidFill>
                  <a:srgbClr val="1E8E84"/>
                </a:solidFill>
                <a:latin typeface="Segoe UI"/>
              </a:rPr>
              <a:t>—  </a:t>
            </a:r>
            <a:r>
              <a:rPr sz="1450">
                <a:solidFill>
                  <a:srgbClr val="1A1D29"/>
                </a:solidFill>
                <a:latin typeface="Segoe UI"/>
              </a:rPr>
              <a:t>Giá theo ĐẦU NGƯờI DÙNG (~$20-200/tháng/người), không theo khối lượng dữ liệu — 1 phòng CSKH nhiều người cùng cần dùng thì chi phí nhân lên theo số ghế, chưa kể thời gian mỗi người tự đặt câu hỏi, tự đọc, tự tổng hợp lại.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38100"/>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0058400" cy="274320"/>
          </a:xfrm>
          <a:prstGeom prst="rect">
            <a:avLst/>
          </a:prstGeom>
          <a:noFill/>
        </p:spPr>
        <p:txBody>
          <a:bodyPr wrap="square" anchor="t" lIns="0" rIns="0" tIns="0" bIns="0">
            <a:spAutoFit/>
          </a:bodyPr>
          <a:lstStyle/>
          <a:p>
            <a:pPr algn="l">
              <a:lnSpc>
                <a:spcPct val="100000"/>
              </a:lnSpc>
            </a:pPr>
            <a:r>
              <a:rPr sz="1150" b="1" i="0">
                <a:solidFill>
                  <a:srgbClr val="2EC4B6"/>
                </a:solidFill>
                <a:latin typeface="Segoe UI Semibold"/>
              </a:rPr>
              <a:t>SO SÁNH KỸ THUẬT</a:t>
            </a:r>
          </a:p>
        </p:txBody>
      </p:sp>
      <p:sp>
        <p:nvSpPr>
          <p:cNvPr id="5" name="TextBox 4"/>
          <p:cNvSpPr txBox="1"/>
          <p:nvPr/>
        </p:nvSpPr>
        <p:spPr>
          <a:xfrm>
            <a:off x="548640" y="420624"/>
            <a:ext cx="10972800" cy="640080"/>
          </a:xfrm>
          <a:prstGeom prst="rect">
            <a:avLst/>
          </a:prstGeom>
          <a:noFill/>
        </p:spPr>
        <p:txBody>
          <a:bodyPr wrap="square" anchor="t" lIns="0" rIns="0" tIns="0" bIns="0">
            <a:spAutoFit/>
          </a:bodyPr>
          <a:lstStyle/>
          <a:p>
            <a:pPr algn="l">
              <a:lnSpc>
                <a:spcPct val="100000"/>
              </a:lnSpc>
            </a:pPr>
            <a:r>
              <a:rPr sz="2700" b="1" i="0">
                <a:solidFill>
                  <a:srgbClr val="FFFFFF"/>
                </a:solidFill>
                <a:latin typeface="Segoe UI Semibold"/>
              </a:rPr>
              <a:t>Độ trễ, độ chính xác, chi phí, độ bao phủ dữ liệu</a:t>
            </a:r>
          </a:p>
        </p:txBody>
      </p:sp>
      <p:sp>
        <p:nvSpPr>
          <p:cNvPr id="6" name="Rectangle 5"/>
          <p:cNvSpPr/>
          <p:nvPr/>
        </p:nvSpPr>
        <p:spPr>
          <a:xfrm>
            <a:off x="0" y="6565392"/>
            <a:ext cx="12191695" cy="292608"/>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65392"/>
            <a:ext cx="7315200" cy="292608"/>
          </a:xfrm>
          <a:prstGeom prst="rect">
            <a:avLst/>
          </a:prstGeom>
          <a:noFill/>
        </p:spPr>
        <p:txBody>
          <a:bodyPr wrap="square" anchor="ctr" lIns="0" rIns="0" tIns="0" bIns="0">
            <a:spAutoFit/>
          </a:bodyPr>
          <a:lstStyle/>
          <a:p>
            <a:pPr algn="l">
              <a:lnSpc>
                <a:spcPct val="100000"/>
              </a:lnSpc>
            </a:pPr>
            <a:r>
              <a:rPr sz="900" b="0" i="0">
                <a:solidFill>
                  <a:srgbClr val="B9C4D6"/>
                </a:solidFill>
                <a:latin typeface="Segoe UI"/>
              </a:rPr>
              <a:t>VigiBank  ·  So sánh kỹ thuật</a:t>
            </a:r>
          </a:p>
        </p:txBody>
      </p:sp>
      <p:sp>
        <p:nvSpPr>
          <p:cNvPr id="8" name="TextBox 7"/>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B9C4D6"/>
                </a:solidFill>
                <a:latin typeface="Segoe UI"/>
              </a:rPr>
              <a:t>7</a:t>
            </a:r>
          </a:p>
        </p:txBody>
      </p:sp>
      <p:graphicFrame>
        <p:nvGraphicFramePr>
          <p:cNvPr id="9" name="Table 8"/>
          <p:cNvGraphicFramePr>
            <a:graphicFrameLocks noGrp="1"/>
          </p:cNvGraphicFramePr>
          <p:nvPr/>
        </p:nvGraphicFramePr>
        <p:xfrm>
          <a:off x="457200" y="1508760"/>
          <a:ext cx="11292840" cy="5440680"/>
        </p:xfrm>
        <a:graphic>
          <a:graphicData uri="http://schemas.openxmlformats.org/drawingml/2006/table">
            <a:tbl>
              <a:tblPr firstRow="1" bandRow="1">
                <a:tableStyleId>{5C22544A-7EE6-4342-B048-85BDC9FD1C3A}</a:tableStyleId>
              </a:tblPr>
              <a:tblGrid>
                <a:gridCol w="2331720"/>
                <a:gridCol w="3063240"/>
                <a:gridCol w="3063240"/>
                <a:gridCol w="2834640"/>
              </a:tblGrid>
              <a:tr h="502920">
                <a:tc>
                  <a:txBody>
                    <a:bodyPr/>
                    <a:lstStyle/>
                    <a:p>
                      <a:pPr algn="l"/>
                      <a:r>
                        <a:rPr sz="1150" b="1">
                          <a:solidFill>
                            <a:srgbClr val="FFFFFF"/>
                          </a:solidFill>
                          <a:latin typeface="Segoe UI"/>
                        </a:rPr>
                        <a:t>Tiêu chí</a:t>
                      </a:r>
                    </a:p>
                  </a:txBody>
                  <a:tcPr marL="76200" marR="76200" marT="38100" marB="38100" anchor="ctr">
                    <a:solidFill>
                      <a:srgbClr val="0B1F3A"/>
                    </a:solidFill>
                  </a:tcPr>
                </a:tc>
                <a:tc>
                  <a:txBody>
                    <a:bodyPr/>
                    <a:lstStyle/>
                    <a:p>
                      <a:pPr algn="l"/>
                      <a:r>
                        <a:rPr sz="1150" b="1">
                          <a:solidFill>
                            <a:srgbClr val="FFFFFF"/>
                          </a:solidFill>
                          <a:latin typeface="Segoe UI"/>
                        </a:rPr>
                        <a:t>VigiBank</a:t>
                      </a:r>
                    </a:p>
                  </a:txBody>
                  <a:tcPr marL="76200" marR="76200" marT="38100" marB="38100" anchor="ctr">
                    <a:solidFill>
                      <a:srgbClr val="2EC4B6"/>
                    </a:solidFill>
                  </a:tcPr>
                </a:tc>
                <a:tc>
                  <a:txBody>
                    <a:bodyPr/>
                    <a:lstStyle/>
                    <a:p>
                      <a:pPr algn="l"/>
                      <a:r>
                        <a:rPr sz="1150" b="1">
                          <a:solidFill>
                            <a:srgbClr val="FFFFFF"/>
                          </a:solidFill>
                          <a:latin typeface="Segoe UI"/>
                        </a:rPr>
                        <a:t>ChatGPT Pro</a:t>
                      </a:r>
                    </a:p>
                    <a:p>
                      <a:pPr algn="l"/>
                      <a:r>
                        <a:rPr sz="1150" b="1">
                          <a:solidFill>
                            <a:srgbClr val="FFFFFF"/>
                          </a:solidFill>
                          <a:latin typeface="Segoe UI"/>
                        </a:rPr>
                        <a:t>(Deep Research)</a:t>
                      </a:r>
                    </a:p>
                  </a:txBody>
                  <a:tcPr marL="76200" marR="76200" marT="38100" marB="38100" anchor="ctr">
                    <a:solidFill>
                      <a:srgbClr val="0B1F3A"/>
                    </a:solidFill>
                  </a:tcPr>
                </a:tc>
                <a:tc>
                  <a:txBody>
                    <a:bodyPr/>
                    <a:lstStyle/>
                    <a:p>
                      <a:pPr algn="l"/>
                      <a:r>
                        <a:rPr sz="1150" b="1">
                          <a:solidFill>
                            <a:srgbClr val="FFFFFF"/>
                          </a:solidFill>
                          <a:latin typeface="Segoe UI"/>
                        </a:rPr>
                        <a:t>Nền tảng Social</a:t>
                      </a:r>
                    </a:p>
                    <a:p>
                      <a:pPr algn="l"/>
                      <a:r>
                        <a:rPr sz="1150" b="1">
                          <a:solidFill>
                            <a:srgbClr val="FFFFFF"/>
                          </a:solidFill>
                          <a:latin typeface="Segoe UI"/>
                        </a:rPr>
                        <a:t>Listening hiện có</a:t>
                      </a:r>
                    </a:p>
                  </a:txBody>
                  <a:tcPr marL="76200" marR="76200" marT="38100" marB="38100" anchor="ctr">
                    <a:solidFill>
                      <a:srgbClr val="0B1F3A"/>
                    </a:solidFill>
                  </a:tcPr>
                </a:tc>
              </a:tr>
              <a:tr h="1234440">
                <a:tc>
                  <a:txBody>
                    <a:bodyPr/>
                    <a:lstStyle/>
                    <a:p>
                      <a:pPr algn="l"/>
                      <a:r>
                        <a:rPr sz="1050" b="1">
                          <a:solidFill>
                            <a:srgbClr val="1A1D29"/>
                          </a:solidFill>
                          <a:latin typeface="Segoe UI"/>
                        </a:rPr>
                        <a:t>Độ trễ</a:t>
                      </a:r>
                    </a:p>
                    <a:p>
                      <a:pPr algn="l"/>
                      <a:r>
                        <a:rPr sz="1050" b="1">
                          <a:solidFill>
                            <a:srgbClr val="1A1D29"/>
                          </a:solidFill>
                          <a:latin typeface="Segoe UI"/>
                        </a:rPr>
                        <a:t>(dữ liệu mới → có kết luận)</a:t>
                      </a:r>
                    </a:p>
                  </a:txBody>
                  <a:tcPr marL="76200" marR="76200" marT="38100" marB="38100" anchor="ctr">
                    <a:solidFill>
                      <a:srgbClr val="FFFFFF"/>
                    </a:solidFill>
                  </a:tcPr>
                </a:tc>
                <a:tc>
                  <a:txBody>
                    <a:bodyPr/>
                    <a:lstStyle/>
                    <a:p>
                      <a:pPr algn="l"/>
                      <a:r>
                        <a:rPr sz="1050" b="0">
                          <a:solidFill>
                            <a:srgbClr val="0B1F3A"/>
                          </a:solidFill>
                          <a:latin typeface="Segoe UI"/>
                        </a:rPr>
                        <a:t>Tự động, chu kỳ 15-30 phút, 24/7 — không cần người khởi động</a:t>
                      </a:r>
                    </a:p>
                  </a:txBody>
                  <a:tcPr marL="76200" marR="76200" marT="38100" marB="38100" anchor="ctr">
                    <a:solidFill>
                      <a:srgbClr val="DAF3F0"/>
                    </a:solidFill>
                  </a:tcPr>
                </a:tc>
                <a:tc>
                  <a:txBody>
                    <a:bodyPr/>
                    <a:lstStyle/>
                    <a:p>
                      <a:pPr algn="l"/>
                      <a:r>
                        <a:rPr sz="1050" b="0">
                          <a:solidFill>
                            <a:srgbClr val="1A1D29"/>
                          </a:solidFill>
                          <a:latin typeface="Segoe UI"/>
                        </a:rPr>
                        <a:t>Chỉ khi có người đặt câu hỏi; mỗi lượt 5-30 phút xử lý, không tự lặp lại</a:t>
                      </a:r>
                    </a:p>
                  </a:txBody>
                  <a:tcPr marL="76200" marR="76200" marT="38100" marB="38100" anchor="ctr">
                    <a:solidFill>
                      <a:srgbClr val="FFFFFF"/>
                    </a:solidFill>
                  </a:tcPr>
                </a:tc>
                <a:tc>
                  <a:txBody>
                    <a:bodyPr/>
                    <a:lstStyle/>
                    <a:p>
                      <a:pPr algn="l"/>
                      <a:r>
                        <a:rPr sz="1050" b="0">
                          <a:solidFill>
                            <a:srgbClr val="1A1D29"/>
                          </a:solidFill>
                          <a:latin typeface="Segoe UI"/>
                        </a:rPr>
                        <a:t>Gần thời gian thực — thế mạnh chung của cả nhóm nền tảng này</a:t>
                      </a:r>
                    </a:p>
                  </a:txBody>
                  <a:tcPr marL="76200" marR="76200" marT="38100" marB="38100" anchor="ctr">
                    <a:solidFill>
                      <a:srgbClr val="FFFFFF"/>
                    </a:solidFill>
                  </a:tcPr>
                </a:tc>
              </a:tr>
              <a:tr h="1234440">
                <a:tc>
                  <a:txBody>
                    <a:bodyPr/>
                    <a:lstStyle/>
                    <a:p>
                      <a:pPr algn="l"/>
                      <a:r>
                        <a:rPr sz="1050" b="1">
                          <a:solidFill>
                            <a:srgbClr val="1A1D29"/>
                          </a:solidFill>
                          <a:latin typeface="Segoe UI"/>
                        </a:rPr>
                        <a:t>Độ chính xác / tin cậy kết luận</a:t>
                      </a:r>
                    </a:p>
                  </a:txBody>
                  <a:tcPr marL="76200" marR="76200" marT="38100" marB="38100" anchor="ctr">
                    <a:solidFill>
                      <a:srgbClr val="EAEEF5"/>
                    </a:solidFill>
                  </a:tcPr>
                </a:tc>
                <a:tc>
                  <a:txBody>
                    <a:bodyPr/>
                    <a:lstStyle/>
                    <a:p>
                      <a:pPr algn="l"/>
                      <a:r>
                        <a:rPr sz="1050" b="0">
                          <a:solidFill>
                            <a:srgbClr val="0B1F3A"/>
                          </a:solidFill>
                          <a:latin typeface="Segoe UI"/>
                        </a:rPr>
                        <a:t>Kiểm chứng chéo 2 model + đối chiếu tài liệu chính thức riêng từng ngân hàng, có cơ chế “cần xem xét” khi chưa chắc</a:t>
                      </a:r>
                    </a:p>
                  </a:txBody>
                  <a:tcPr marL="76200" marR="76200" marT="38100" marB="38100" anchor="ctr">
                    <a:solidFill>
                      <a:srgbClr val="DAF3F0"/>
                    </a:solidFill>
                  </a:tcPr>
                </a:tc>
                <a:tc>
                  <a:txBody>
                    <a:bodyPr/>
                    <a:lstStyle/>
                    <a:p>
                      <a:pPr algn="l"/>
                      <a:r>
                        <a:rPr sz="1050" b="0">
                          <a:solidFill>
                            <a:srgbClr val="1A1D29"/>
                          </a:solidFill>
                          <a:latin typeface="Segoe UI"/>
                        </a:rPr>
                        <a:t>Tổng hợp mạch lạc, có trích dẫn nguồn công khai — nhưng không đối chiếu chính sách nội bộ trừ khi tự cung cấp tài liệu</a:t>
                      </a:r>
                    </a:p>
                  </a:txBody>
                  <a:tcPr marL="76200" marR="76200" marT="38100" marB="38100" anchor="ctr">
                    <a:solidFill>
                      <a:srgbClr val="EAEEF5"/>
                    </a:solidFill>
                  </a:tcPr>
                </a:tc>
                <a:tc>
                  <a:txBody>
                    <a:bodyPr/>
                    <a:lstStyle/>
                    <a:p>
                      <a:pPr algn="l"/>
                      <a:r>
                        <a:rPr sz="1050" b="0">
                          <a:solidFill>
                            <a:srgbClr val="1A1D29"/>
                          </a:solidFill>
                          <a:latin typeface="Segoe UI"/>
                        </a:rPr>
                        <a:t>Sentiment analysis trưởng thành nhiều năm, nhưng hiếm khi đối chiếu quy định riêng ngành ngân hàng</a:t>
                      </a:r>
                    </a:p>
                  </a:txBody>
                  <a:tcPr marL="76200" marR="76200" marT="38100" marB="38100" anchor="ctr">
                    <a:solidFill>
                      <a:srgbClr val="EAEEF5"/>
                    </a:solidFill>
                  </a:tcPr>
                </a:tc>
              </a:tr>
              <a:tr h="1234440">
                <a:tc>
                  <a:txBody>
                    <a:bodyPr/>
                    <a:lstStyle/>
                    <a:p>
                      <a:pPr algn="l"/>
                      <a:r>
                        <a:rPr sz="1050" b="1">
                          <a:solidFill>
                            <a:srgbClr val="1A1D29"/>
                          </a:solidFill>
                          <a:latin typeface="Segoe UI"/>
                        </a:rPr>
                        <a:t>Chi phí</a:t>
                      </a:r>
                    </a:p>
                  </a:txBody>
                  <a:tcPr marL="76200" marR="76200" marT="38100" marB="38100" anchor="ctr">
                    <a:solidFill>
                      <a:srgbClr val="FFFFFF"/>
                    </a:solidFill>
                  </a:tcPr>
                </a:tc>
                <a:tc>
                  <a:txBody>
                    <a:bodyPr/>
                    <a:lstStyle/>
                    <a:p>
                      <a:pPr algn="l"/>
                      <a:r>
                        <a:rPr sz="1050" b="0">
                          <a:solidFill>
                            <a:srgbClr val="0B1F3A"/>
                          </a:solidFill>
                          <a:latin typeface="Segoe UI"/>
                        </a:rPr>
                        <a:t>Thấp – trung bình, tính theo khối lượng dữ liệu/chủ đề, không tính theo đầu người</a:t>
                      </a:r>
                    </a:p>
                  </a:txBody>
                  <a:tcPr marL="76200" marR="76200" marT="38100" marB="38100" anchor="ctr">
                    <a:solidFill>
                      <a:srgbClr val="DAF3F0"/>
                    </a:solidFill>
                  </a:tcPr>
                </a:tc>
                <a:tc>
                  <a:txBody>
                    <a:bodyPr/>
                    <a:lstStyle/>
                    <a:p>
                      <a:pPr algn="l"/>
                      <a:r>
                        <a:rPr sz="1050" b="0">
                          <a:solidFill>
                            <a:srgbClr val="1A1D29"/>
                          </a:solidFill>
                          <a:latin typeface="Segoe UI"/>
                        </a:rPr>
                        <a:t>~$20/tháng (Plus, giới hạn lượt) – ~$200/tháng (Pro), tính theo ĐẦU NGƯờI DÙNG</a:t>
                      </a:r>
                    </a:p>
                  </a:txBody>
                  <a:tcPr marL="76200" marR="76200" marT="38100" marB="38100" anchor="ctr">
                    <a:solidFill>
                      <a:srgbClr val="FFFFFF"/>
                    </a:solidFill>
                  </a:tcPr>
                </a:tc>
                <a:tc>
                  <a:txBody>
                    <a:bodyPr/>
                    <a:lstStyle/>
                    <a:p>
                      <a:pPr algn="l"/>
                      <a:r>
                        <a:rPr sz="1050" b="0">
                          <a:solidFill>
                            <a:srgbClr val="1A1D29"/>
                          </a:solidFill>
                          <a:latin typeface="Segoe UI"/>
                        </a:rPr>
                        <a:t>Rất cao, thường hàng nghìn USD/tháng theo bảng giá công khai</a:t>
                      </a:r>
                    </a:p>
                  </a:txBody>
                  <a:tcPr marL="76200" marR="76200" marT="38100" marB="38100" anchor="ctr">
                    <a:solidFill>
                      <a:srgbClr val="FFFFFF"/>
                    </a:solidFill>
                  </a:tcPr>
                </a:tc>
              </a:tr>
              <a:tr h="1234440">
                <a:tc>
                  <a:txBody>
                    <a:bodyPr/>
                    <a:lstStyle/>
                    <a:p>
                      <a:pPr algn="l"/>
                      <a:r>
                        <a:rPr sz="1050" b="1">
                          <a:solidFill>
                            <a:srgbClr val="1A1D29"/>
                          </a:solidFill>
                          <a:latin typeface="Segoe UI"/>
                        </a:rPr>
                        <a:t>Độ bao phủ nguồn dữ liệu</a:t>
                      </a:r>
                    </a:p>
                  </a:txBody>
                  <a:tcPr marL="76200" marR="76200" marT="38100" marB="38100" anchor="ctr">
                    <a:solidFill>
                      <a:srgbClr val="EAEEF5"/>
                    </a:solidFill>
                  </a:tcPr>
                </a:tc>
                <a:tc>
                  <a:txBody>
                    <a:bodyPr/>
                    <a:lstStyle/>
                    <a:p>
                      <a:pPr algn="l"/>
                      <a:r>
                        <a:rPr sz="1050" b="0">
                          <a:solidFill>
                            <a:srgbClr val="0B1F3A"/>
                          </a:solidFill>
                          <a:latin typeface="Segoe UI"/>
                        </a:rPr>
                        <a:t>Sâu trên 7 nguồn cố định, kể cả nguồn cần đăng nhập (nhóm Facebook, review phân trang tới hàng nghìn bản ghi)</a:t>
                      </a:r>
                    </a:p>
                  </a:txBody>
                  <a:tcPr marL="76200" marR="76200" marT="38100" marB="38100" anchor="ctr">
                    <a:solidFill>
                      <a:srgbClr val="DAF3F0"/>
                    </a:solidFill>
                  </a:tcPr>
                </a:tc>
                <a:tc>
                  <a:txBody>
                    <a:bodyPr/>
                    <a:lstStyle/>
                    <a:p>
                      <a:pPr algn="l"/>
                      <a:r>
                        <a:rPr sz="1050" b="0">
                          <a:solidFill>
                            <a:srgbClr val="1A1D29"/>
                          </a:solidFill>
                          <a:latin typeface="Segoe UI"/>
                        </a:rPr>
                        <a:t>Rộng trên web công khai nhưng không vào được nguồn cần đăng nhập/nhóm kín; lấy mẫu đại diện chứ không hệ thống hoá toàn bộ</a:t>
                      </a:r>
                    </a:p>
                  </a:txBody>
                  <a:tcPr marL="76200" marR="76200" marT="38100" marB="38100" anchor="ctr">
                    <a:solidFill>
                      <a:srgbClr val="EAEEF5"/>
                    </a:solidFill>
                  </a:tcPr>
                </a:tc>
                <a:tc>
                  <a:txBody>
                    <a:bodyPr/>
                    <a:lstStyle/>
                    <a:p>
                      <a:pPr algn="l"/>
                      <a:r>
                        <a:rPr sz="1050" b="0">
                          <a:solidFill>
                            <a:srgbClr val="1A1D29"/>
                          </a:solidFill>
                          <a:latin typeface="Segoe UI"/>
                        </a:rPr>
                        <a:t>Rộng trên mạng xã hội chính, nhưng thường thiếu app store review chuyên sâu/website ngân hàng riêng</a:t>
                      </a:r>
                    </a:p>
                  </a:txBody>
                  <a:tcPr marL="76200" marR="76200" marT="38100" marB="38100" anchor="ctr">
                    <a:solidFill>
                      <a:srgbClr val="EAEEF5"/>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38100"/>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0058400" cy="274320"/>
          </a:xfrm>
          <a:prstGeom prst="rect">
            <a:avLst/>
          </a:prstGeom>
          <a:noFill/>
        </p:spPr>
        <p:txBody>
          <a:bodyPr wrap="square" anchor="t" lIns="0" rIns="0" tIns="0" bIns="0">
            <a:spAutoFit/>
          </a:bodyPr>
          <a:lstStyle/>
          <a:p>
            <a:pPr algn="l">
              <a:lnSpc>
                <a:spcPct val="100000"/>
              </a:lnSpc>
            </a:pPr>
            <a:r>
              <a:rPr sz="1150" b="1" i="0">
                <a:solidFill>
                  <a:srgbClr val="2EC4B6"/>
                </a:solidFill>
                <a:latin typeface="Segoe UI Semibold"/>
              </a:rPr>
              <a:t>SO SÁNH KỸ THUẬT</a:t>
            </a:r>
          </a:p>
        </p:txBody>
      </p:sp>
      <p:sp>
        <p:nvSpPr>
          <p:cNvPr id="5" name="TextBox 4"/>
          <p:cNvSpPr txBox="1"/>
          <p:nvPr/>
        </p:nvSpPr>
        <p:spPr>
          <a:xfrm>
            <a:off x="548640" y="420624"/>
            <a:ext cx="10972800" cy="640080"/>
          </a:xfrm>
          <a:prstGeom prst="rect">
            <a:avLst/>
          </a:prstGeom>
          <a:noFill/>
        </p:spPr>
        <p:txBody>
          <a:bodyPr wrap="square" anchor="t" lIns="0" rIns="0" tIns="0" bIns="0">
            <a:spAutoFit/>
          </a:bodyPr>
          <a:lstStyle/>
          <a:p>
            <a:pPr algn="l">
              <a:lnSpc>
                <a:spcPct val="100000"/>
              </a:lnSpc>
            </a:pPr>
            <a:r>
              <a:rPr sz="2700" b="1" i="0">
                <a:solidFill>
                  <a:srgbClr val="FFFFFF"/>
                </a:solidFill>
                <a:latin typeface="Segoe UI Semibold"/>
              </a:rPr>
              <a:t>Khả năng tổng hợp thông tin — mỗi bên mạnh ở một kiểu khác nhau</a:t>
            </a:r>
          </a:p>
        </p:txBody>
      </p:sp>
      <p:sp>
        <p:nvSpPr>
          <p:cNvPr id="6" name="Rectangle 5"/>
          <p:cNvSpPr/>
          <p:nvPr/>
        </p:nvSpPr>
        <p:spPr>
          <a:xfrm>
            <a:off x="0" y="6565392"/>
            <a:ext cx="12191695" cy="292608"/>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65392"/>
            <a:ext cx="7315200" cy="292608"/>
          </a:xfrm>
          <a:prstGeom prst="rect">
            <a:avLst/>
          </a:prstGeom>
          <a:noFill/>
        </p:spPr>
        <p:txBody>
          <a:bodyPr wrap="square" anchor="ctr" lIns="0" rIns="0" tIns="0" bIns="0">
            <a:spAutoFit/>
          </a:bodyPr>
          <a:lstStyle/>
          <a:p>
            <a:pPr algn="l">
              <a:lnSpc>
                <a:spcPct val="100000"/>
              </a:lnSpc>
            </a:pPr>
            <a:r>
              <a:rPr sz="900" b="0" i="0">
                <a:solidFill>
                  <a:srgbClr val="B9C4D6"/>
                </a:solidFill>
                <a:latin typeface="Segoe UI"/>
              </a:rPr>
              <a:t>VigiBank  ·  Tổng hợp thông tin</a:t>
            </a:r>
          </a:p>
        </p:txBody>
      </p:sp>
      <p:sp>
        <p:nvSpPr>
          <p:cNvPr id="8" name="TextBox 7"/>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B9C4D6"/>
                </a:solidFill>
                <a:latin typeface="Segoe UI"/>
              </a:rPr>
              <a:t>8</a:t>
            </a:r>
          </a:p>
        </p:txBody>
      </p:sp>
      <p:sp>
        <p:nvSpPr>
          <p:cNvPr id="9" name="Rectangle 8"/>
          <p:cNvSpPr/>
          <p:nvPr/>
        </p:nvSpPr>
        <p:spPr>
          <a:xfrm>
            <a:off x="457200" y="1600200"/>
            <a:ext cx="3611880" cy="4754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600200"/>
            <a:ext cx="3611880" cy="54864"/>
          </a:xfrm>
          <a:prstGeom prst="rect">
            <a:avLst/>
          </a:prstGeom>
          <a:solidFill>
            <a:srgbClr val="1E8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1856232"/>
            <a:ext cx="3209544" cy="777240"/>
          </a:xfrm>
          <a:prstGeom prst="rect">
            <a:avLst/>
          </a:prstGeom>
          <a:solidFill>
            <a:srgbClr val="D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1984248"/>
            <a:ext cx="2971800" cy="548640"/>
          </a:xfrm>
          <a:prstGeom prst="rect">
            <a:avLst/>
          </a:prstGeom>
          <a:noFill/>
        </p:spPr>
        <p:txBody>
          <a:bodyPr wrap="square" anchor="t" lIns="0" rIns="0" tIns="0" bIns="0">
            <a:spAutoFit/>
          </a:bodyPr>
          <a:lstStyle/>
          <a:p>
            <a:pPr algn="l">
              <a:lnSpc>
                <a:spcPct val="105000"/>
              </a:lnSpc>
            </a:pPr>
            <a:r>
              <a:rPr sz="1450" b="1" i="0">
                <a:solidFill>
                  <a:srgbClr val="0B1F3A"/>
                </a:solidFill>
                <a:latin typeface="Segoe UI Semibold"/>
              </a:rPr>
              <a:t>VigiBank</a:t>
            </a:r>
          </a:p>
        </p:txBody>
      </p:sp>
      <p:sp>
        <p:nvSpPr>
          <p:cNvPr id="13" name="TextBox 12"/>
          <p:cNvSpPr txBox="1"/>
          <p:nvPr/>
        </p:nvSpPr>
        <p:spPr>
          <a:xfrm>
            <a:off x="731520" y="2834640"/>
            <a:ext cx="3063240" cy="3291840"/>
          </a:xfrm>
          <a:prstGeom prst="rect">
            <a:avLst/>
          </a:prstGeom>
          <a:noFill/>
        </p:spPr>
        <p:txBody>
          <a:bodyPr wrap="square" anchor="t" lIns="0" rIns="0" tIns="0" bIns="0">
            <a:spAutoFit/>
          </a:bodyPr>
          <a:lstStyle/>
          <a:p>
            <a:pPr algn="l">
              <a:lnSpc>
                <a:spcPct val="130000"/>
              </a:lnSpc>
            </a:pPr>
            <a:r>
              <a:rPr sz="1250" b="0" i="0">
                <a:solidFill>
                  <a:srgbClr val="6B7280"/>
                </a:solidFill>
                <a:latin typeface="Segoe UI"/>
              </a:rPr>
              <a:t>Tổng hợp CÓ CẤU TRÚC theo pipeline cố định (phân loại → đối chiếu → đồng thuận) → dữ liệu ra luôn cùng 1 schema, dùng được cho biểu đồ xu hướng, SLA, tự động hoá tiếp. Phù hợp cho vận hành lặp lại hàng ngày.</a:t>
            </a:r>
          </a:p>
        </p:txBody>
      </p:sp>
      <p:sp>
        <p:nvSpPr>
          <p:cNvPr id="14" name="Rectangle 13"/>
          <p:cNvSpPr/>
          <p:nvPr/>
        </p:nvSpPr>
        <p:spPr>
          <a:xfrm>
            <a:off x="4197096" y="1600200"/>
            <a:ext cx="3611880" cy="4754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97096" y="1600200"/>
            <a:ext cx="3611880" cy="54864"/>
          </a:xfrm>
          <a:prstGeom prst="rect">
            <a:avLst/>
          </a:prstGeom>
          <a:solidFill>
            <a:srgbClr val="6B4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1856232"/>
            <a:ext cx="3209544" cy="777240"/>
          </a:xfrm>
          <a:prstGeom prst="rect">
            <a:avLst/>
          </a:prstGeom>
          <a:solidFill>
            <a:srgbClr val="EAE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17136" y="1984248"/>
            <a:ext cx="2971800" cy="548640"/>
          </a:xfrm>
          <a:prstGeom prst="rect">
            <a:avLst/>
          </a:prstGeom>
          <a:noFill/>
        </p:spPr>
        <p:txBody>
          <a:bodyPr wrap="square" anchor="t" lIns="0" rIns="0" tIns="0" bIns="0">
            <a:spAutoFit/>
          </a:bodyPr>
          <a:lstStyle/>
          <a:p>
            <a:pPr algn="l">
              <a:lnSpc>
                <a:spcPct val="105000"/>
              </a:lnSpc>
            </a:pPr>
            <a:r>
              <a:rPr sz="1450" b="1" i="0">
                <a:solidFill>
                  <a:srgbClr val="0B1F3A"/>
                </a:solidFill>
                <a:latin typeface="Segoe UI Semibold"/>
              </a:rPr>
              <a:t>ChatGPT Pro (Deep Research)</a:t>
            </a:r>
          </a:p>
        </p:txBody>
      </p:sp>
      <p:sp>
        <p:nvSpPr>
          <p:cNvPr id="18" name="TextBox 17"/>
          <p:cNvSpPr txBox="1"/>
          <p:nvPr/>
        </p:nvSpPr>
        <p:spPr>
          <a:xfrm>
            <a:off x="4471416" y="2834640"/>
            <a:ext cx="3063240" cy="3291840"/>
          </a:xfrm>
          <a:prstGeom prst="rect">
            <a:avLst/>
          </a:prstGeom>
          <a:noFill/>
        </p:spPr>
        <p:txBody>
          <a:bodyPr wrap="square" anchor="t" lIns="0" rIns="0" tIns="0" bIns="0">
            <a:spAutoFit/>
          </a:bodyPr>
          <a:lstStyle/>
          <a:p>
            <a:pPr algn="l">
              <a:lnSpc>
                <a:spcPct val="130000"/>
              </a:lnSpc>
            </a:pPr>
            <a:r>
              <a:rPr sz="1250" b="0" i="0">
                <a:solidFill>
                  <a:srgbClr val="6B7280"/>
                </a:solidFill>
                <a:latin typeface="Segoe UI"/>
              </a:rPr>
              <a:t>Tổng hợp TỰ DO rất mạnh — viết báo cáo mạch lạc, phát hiện liên kết ngữ cảnh mà pipeline cứng có thể bỏ sót. Nhưng đầu ra không có cấu trúc nhất quán giữa các lần chạy → khó ghép trực tiếp vào dashboard/tự động hoá tiếp.</a:t>
            </a:r>
          </a:p>
        </p:txBody>
      </p:sp>
      <p:sp>
        <p:nvSpPr>
          <p:cNvPr id="19" name="Rectangle 18"/>
          <p:cNvSpPr/>
          <p:nvPr/>
        </p:nvSpPr>
        <p:spPr>
          <a:xfrm>
            <a:off x="7936992" y="1600200"/>
            <a:ext cx="3611880" cy="4754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36992" y="1600200"/>
            <a:ext cx="3611880" cy="54864"/>
          </a:xfrm>
          <a:prstGeom prst="rect">
            <a:avLst/>
          </a:prstGeom>
          <a:solidFill>
            <a:srgbClr val="1B4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38160" y="1856232"/>
            <a:ext cx="3209544" cy="777240"/>
          </a:xfrm>
          <a:prstGeom prst="rect">
            <a:avLst/>
          </a:prstGeom>
          <a:solidFill>
            <a:srgbClr val="DDE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57032" y="1984248"/>
            <a:ext cx="2971800" cy="548640"/>
          </a:xfrm>
          <a:prstGeom prst="rect">
            <a:avLst/>
          </a:prstGeom>
          <a:noFill/>
        </p:spPr>
        <p:txBody>
          <a:bodyPr wrap="square" anchor="t" lIns="0" rIns="0" tIns="0" bIns="0">
            <a:spAutoFit/>
          </a:bodyPr>
          <a:lstStyle/>
          <a:p>
            <a:pPr algn="l">
              <a:lnSpc>
                <a:spcPct val="105000"/>
              </a:lnSpc>
            </a:pPr>
            <a:r>
              <a:rPr sz="1450" b="1" i="0">
                <a:solidFill>
                  <a:srgbClr val="0B1F3A"/>
                </a:solidFill>
                <a:latin typeface="Segoe UI Semibold"/>
              </a:rPr>
              <a:t>Nền tảng Social Listening hiện có</a:t>
            </a:r>
          </a:p>
        </p:txBody>
      </p:sp>
      <p:sp>
        <p:nvSpPr>
          <p:cNvPr id="23" name="TextBox 22"/>
          <p:cNvSpPr txBox="1"/>
          <p:nvPr/>
        </p:nvSpPr>
        <p:spPr>
          <a:xfrm>
            <a:off x="8211312" y="2834640"/>
            <a:ext cx="3063240" cy="3291840"/>
          </a:xfrm>
          <a:prstGeom prst="rect">
            <a:avLst/>
          </a:prstGeom>
          <a:noFill/>
        </p:spPr>
        <p:txBody>
          <a:bodyPr wrap="square" anchor="t" lIns="0" rIns="0" tIns="0" bIns="0">
            <a:spAutoFit/>
          </a:bodyPr>
          <a:lstStyle/>
          <a:p>
            <a:pPr algn="l">
              <a:lnSpc>
                <a:spcPct val="130000"/>
              </a:lnSpc>
            </a:pPr>
            <a:r>
              <a:rPr sz="1250" b="0" i="0">
                <a:solidFill>
                  <a:srgbClr val="6B7280"/>
                </a:solidFill>
                <a:latin typeface="Segoe UI"/>
              </a:rPr>
              <a:t>Tổng hợp qua dashboard, biểu đồ, số liệu tốt — nhưng ít khi tự sinh diễn giải ngôn ngữ tự nhiên sâu như LLM; thường cần chuyên viên đọc số liệu rồi tự viết báo cáo.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38100"/>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0058400" cy="274320"/>
          </a:xfrm>
          <a:prstGeom prst="rect">
            <a:avLst/>
          </a:prstGeom>
          <a:noFill/>
        </p:spPr>
        <p:txBody>
          <a:bodyPr wrap="square" anchor="t" lIns="0" rIns="0" tIns="0" bIns="0">
            <a:spAutoFit/>
          </a:bodyPr>
          <a:lstStyle/>
          <a:p>
            <a:pPr algn="l">
              <a:lnSpc>
                <a:spcPct val="100000"/>
              </a:lnSpc>
            </a:pPr>
            <a:r>
              <a:rPr sz="1150" b="1" i="0">
                <a:solidFill>
                  <a:srgbClr val="2EC4B6"/>
                </a:solidFill>
                <a:latin typeface="Segoe UI Semibold"/>
              </a:rPr>
              <a:t>SO SÁNH KỸ THUẬT</a:t>
            </a:r>
          </a:p>
        </p:txBody>
      </p:sp>
      <p:sp>
        <p:nvSpPr>
          <p:cNvPr id="5" name="TextBox 4"/>
          <p:cNvSpPr txBox="1"/>
          <p:nvPr/>
        </p:nvSpPr>
        <p:spPr>
          <a:xfrm>
            <a:off x="548640" y="420624"/>
            <a:ext cx="10972800" cy="640080"/>
          </a:xfrm>
          <a:prstGeom prst="rect">
            <a:avLst/>
          </a:prstGeom>
          <a:noFill/>
        </p:spPr>
        <p:txBody>
          <a:bodyPr wrap="square" anchor="t" lIns="0" rIns="0" tIns="0" bIns="0">
            <a:spAutoFit/>
          </a:bodyPr>
          <a:lstStyle/>
          <a:p>
            <a:pPr algn="l">
              <a:lnSpc>
                <a:spcPct val="100000"/>
              </a:lnSpc>
            </a:pPr>
            <a:r>
              <a:rPr sz="2700" b="1" i="0">
                <a:solidFill>
                  <a:srgbClr val="FFFFFF"/>
                </a:solidFill>
                <a:latin typeface="Segoe UI Semibold"/>
              </a:rPr>
              <a:t>Điểm mạnh và hạn chế của từng hướng tiếp cận</a:t>
            </a:r>
          </a:p>
        </p:txBody>
      </p:sp>
      <p:sp>
        <p:nvSpPr>
          <p:cNvPr id="6" name="Rectangle 5"/>
          <p:cNvSpPr/>
          <p:nvPr/>
        </p:nvSpPr>
        <p:spPr>
          <a:xfrm>
            <a:off x="0" y="6565392"/>
            <a:ext cx="12191695" cy="292608"/>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65392"/>
            <a:ext cx="7315200" cy="292608"/>
          </a:xfrm>
          <a:prstGeom prst="rect">
            <a:avLst/>
          </a:prstGeom>
          <a:noFill/>
        </p:spPr>
        <p:txBody>
          <a:bodyPr wrap="square" anchor="ctr" lIns="0" rIns="0" tIns="0" bIns="0">
            <a:spAutoFit/>
          </a:bodyPr>
          <a:lstStyle/>
          <a:p>
            <a:pPr algn="l">
              <a:lnSpc>
                <a:spcPct val="100000"/>
              </a:lnSpc>
            </a:pPr>
            <a:r>
              <a:rPr sz="900" b="0" i="0">
                <a:solidFill>
                  <a:srgbClr val="B9C4D6"/>
                </a:solidFill>
                <a:latin typeface="Segoe UI"/>
              </a:rPr>
              <a:t>VigiBank  ·  Điểm mạnh &amp; hạn chế</a:t>
            </a:r>
          </a:p>
        </p:txBody>
      </p:sp>
      <p:sp>
        <p:nvSpPr>
          <p:cNvPr id="8" name="TextBox 7"/>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B9C4D6"/>
                </a:solidFill>
                <a:latin typeface="Segoe UI"/>
              </a:rPr>
              <a:t>9</a:t>
            </a:r>
          </a:p>
        </p:txBody>
      </p:sp>
      <p:sp>
        <p:nvSpPr>
          <p:cNvPr id="9" name="Rectangle 8"/>
          <p:cNvSpPr/>
          <p:nvPr/>
        </p:nvSpPr>
        <p:spPr>
          <a:xfrm>
            <a:off x="457200" y="1554480"/>
            <a:ext cx="3611880" cy="4846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554480"/>
            <a:ext cx="3611880" cy="566928"/>
          </a:xfrm>
          <a:prstGeom prst="rect">
            <a:avLst/>
          </a:prstGeom>
          <a:solidFill>
            <a:srgbClr val="1E8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664208"/>
            <a:ext cx="3246120" cy="384048"/>
          </a:xfrm>
          <a:prstGeom prst="rect">
            <a:avLst/>
          </a:prstGeom>
          <a:noFill/>
        </p:spPr>
        <p:txBody>
          <a:bodyPr wrap="square" anchor="t" lIns="0" rIns="0" tIns="0" bIns="0">
            <a:spAutoFit/>
          </a:bodyPr>
          <a:lstStyle/>
          <a:p>
            <a:pPr algn="l">
              <a:lnSpc>
                <a:spcPct val="102000"/>
              </a:lnSpc>
            </a:pPr>
            <a:r>
              <a:rPr sz="1300" b="1" i="0">
                <a:solidFill>
                  <a:srgbClr val="FFFFFF"/>
                </a:solidFill>
                <a:latin typeface="Segoe UI Semibold"/>
              </a:rPr>
              <a:t>VigiBank</a:t>
            </a:r>
          </a:p>
        </p:txBody>
      </p:sp>
      <p:sp>
        <p:nvSpPr>
          <p:cNvPr id="12" name="TextBox 11"/>
          <p:cNvSpPr txBox="1"/>
          <p:nvPr/>
        </p:nvSpPr>
        <p:spPr>
          <a:xfrm>
            <a:off x="640080" y="2267712"/>
            <a:ext cx="3246120" cy="274320"/>
          </a:xfrm>
          <a:prstGeom prst="rect">
            <a:avLst/>
          </a:prstGeom>
          <a:noFill/>
        </p:spPr>
        <p:txBody>
          <a:bodyPr wrap="square" anchor="t" lIns="0" rIns="0" tIns="0" bIns="0">
            <a:spAutoFit/>
          </a:bodyPr>
          <a:lstStyle/>
          <a:p>
            <a:pPr algn="l">
              <a:lnSpc>
                <a:spcPct val="100000"/>
              </a:lnSpc>
            </a:pPr>
            <a:r>
              <a:rPr sz="1050" b="1" i="0">
                <a:solidFill>
                  <a:srgbClr val="1E8E84"/>
                </a:solidFill>
                <a:latin typeface="Segoe UI Semibold"/>
              </a:rPr>
              <a:t>ĐIỂM MẠNH</a:t>
            </a:r>
          </a:p>
        </p:txBody>
      </p:sp>
      <p:sp>
        <p:nvSpPr>
          <p:cNvPr id="13" name="TextBox 12"/>
          <p:cNvSpPr txBox="1"/>
          <p:nvPr/>
        </p:nvSpPr>
        <p:spPr>
          <a:xfrm>
            <a:off x="640080" y="2560320"/>
            <a:ext cx="3246120" cy="1737360"/>
          </a:xfrm>
          <a:prstGeom prst="rect">
            <a:avLst/>
          </a:prstGeom>
          <a:noFill/>
        </p:spPr>
        <p:txBody>
          <a:bodyPr wrap="square" lIns="0" rIns="0" tIns="0" bIns="0">
            <a:spAutoFit/>
          </a:bodyPr>
          <a:lstStyle/>
          <a:p>
            <a:pPr>
              <a:lnSpc>
                <a:spcPct val="115000"/>
              </a:lnSpc>
              <a:spcAft>
                <a:spcPts val="700"/>
              </a:spcAft>
            </a:pPr>
            <a:r>
              <a:rPr sz="1050" b="1">
                <a:solidFill>
                  <a:srgbClr val="1E8E84"/>
                </a:solidFill>
                <a:latin typeface="Segoe UI"/>
              </a:rPr>
              <a:t>—  </a:t>
            </a:r>
            <a:r>
              <a:rPr sz="1050">
                <a:solidFill>
                  <a:srgbClr val="1A1D29"/>
                </a:solidFill>
                <a:latin typeface="Segoe UI"/>
              </a:rPr>
              <a:t>Tự động 24/7, không cần ai vận hành</a:t>
            </a:r>
          </a:p>
          <a:p>
            <a:pPr>
              <a:lnSpc>
                <a:spcPct val="115000"/>
              </a:lnSpc>
              <a:spcAft>
                <a:spcPts val="700"/>
              </a:spcAft>
            </a:pPr>
            <a:r>
              <a:rPr sz="1050" b="1">
                <a:solidFill>
                  <a:srgbClr val="1E8E84"/>
                </a:solidFill>
                <a:latin typeface="Segoe UI"/>
              </a:rPr>
              <a:t>—  </a:t>
            </a:r>
            <a:r>
              <a:rPr sz="1050">
                <a:solidFill>
                  <a:srgbClr val="1A1D29"/>
                </a:solidFill>
                <a:latin typeface="Segoe UI"/>
              </a:rPr>
              <a:t>Đối chiếu quy định ngành ngân hàng</a:t>
            </a:r>
          </a:p>
          <a:p>
            <a:pPr>
              <a:lnSpc>
                <a:spcPct val="115000"/>
              </a:lnSpc>
              <a:spcAft>
                <a:spcPts val="700"/>
              </a:spcAft>
            </a:pPr>
            <a:r>
              <a:rPr sz="1050" b="1">
                <a:solidFill>
                  <a:srgbClr val="1E8E84"/>
                </a:solidFill>
                <a:latin typeface="Segoe UI"/>
              </a:rPr>
              <a:t>—  </a:t>
            </a:r>
            <a:r>
              <a:rPr sz="1050">
                <a:solidFill>
                  <a:srgbClr val="1A1D29"/>
                </a:solidFill>
                <a:latin typeface="Segoe UI"/>
              </a:rPr>
              <a:t>SLA + phân công theo phòng ban</a:t>
            </a:r>
          </a:p>
          <a:p>
            <a:pPr>
              <a:lnSpc>
                <a:spcPct val="115000"/>
              </a:lnSpc>
              <a:spcAft>
                <a:spcPts val="700"/>
              </a:spcAft>
            </a:pPr>
            <a:r>
              <a:rPr sz="1050" b="1">
                <a:solidFill>
                  <a:srgbClr val="1E8E84"/>
                </a:solidFill>
                <a:latin typeface="Segoe UI"/>
              </a:rPr>
              <a:t>—  </a:t>
            </a:r>
            <a:r>
              <a:rPr sz="1050">
                <a:solidFill>
                  <a:srgbClr val="1A1D29"/>
                </a:solidFill>
                <a:latin typeface="Segoe UI"/>
              </a:rPr>
              <a:t>Chi phí thấp ở quy mô lớn</a:t>
            </a:r>
          </a:p>
        </p:txBody>
      </p:sp>
      <p:sp>
        <p:nvSpPr>
          <p:cNvPr id="14" name="TextBox 13"/>
          <p:cNvSpPr txBox="1"/>
          <p:nvPr/>
        </p:nvSpPr>
        <p:spPr>
          <a:xfrm>
            <a:off x="640080" y="4123944"/>
            <a:ext cx="3246120" cy="274320"/>
          </a:xfrm>
          <a:prstGeom prst="rect">
            <a:avLst/>
          </a:prstGeom>
          <a:noFill/>
        </p:spPr>
        <p:txBody>
          <a:bodyPr wrap="square" anchor="t" lIns="0" rIns="0" tIns="0" bIns="0">
            <a:spAutoFit/>
          </a:bodyPr>
          <a:lstStyle/>
          <a:p>
            <a:pPr algn="l">
              <a:lnSpc>
                <a:spcPct val="100000"/>
              </a:lnSpc>
            </a:pPr>
            <a:r>
              <a:rPr sz="1050" b="1" i="0">
                <a:solidFill>
                  <a:srgbClr val="C8373D"/>
                </a:solidFill>
                <a:latin typeface="Segoe UI Semibold"/>
              </a:rPr>
              <a:t>HẠN CHẾ</a:t>
            </a:r>
          </a:p>
        </p:txBody>
      </p:sp>
      <p:sp>
        <p:nvSpPr>
          <p:cNvPr id="15" name="TextBox 14"/>
          <p:cNvSpPr txBox="1"/>
          <p:nvPr/>
        </p:nvSpPr>
        <p:spPr>
          <a:xfrm>
            <a:off x="640080" y="4416552"/>
            <a:ext cx="3246120" cy="1828800"/>
          </a:xfrm>
          <a:prstGeom prst="rect">
            <a:avLst/>
          </a:prstGeom>
          <a:noFill/>
        </p:spPr>
        <p:txBody>
          <a:bodyPr wrap="square" lIns="0" rIns="0" tIns="0" bIns="0">
            <a:spAutoFit/>
          </a:bodyPr>
          <a:lstStyle/>
          <a:p>
            <a:pPr>
              <a:lnSpc>
                <a:spcPct val="115000"/>
              </a:lnSpc>
              <a:spcAft>
                <a:spcPts val="700"/>
              </a:spcAft>
            </a:pPr>
            <a:r>
              <a:rPr sz="1050" b="1">
                <a:solidFill>
                  <a:srgbClr val="C8373D"/>
                </a:solidFill>
                <a:latin typeface="Segoe UI"/>
              </a:rPr>
              <a:t>—  </a:t>
            </a:r>
            <a:r>
              <a:rPr sz="1050">
                <a:solidFill>
                  <a:srgbClr val="1A1D29"/>
                </a:solidFill>
                <a:latin typeface="Segoe UI"/>
              </a:rPr>
              <a:t>Sản phẩm còn mới, chưa được kiểm chứng rộng rãi</a:t>
            </a:r>
          </a:p>
          <a:p>
            <a:pPr>
              <a:lnSpc>
                <a:spcPct val="115000"/>
              </a:lnSpc>
              <a:spcAft>
                <a:spcPts val="700"/>
              </a:spcAft>
            </a:pPr>
            <a:r>
              <a:rPr sz="1050" b="1">
                <a:solidFill>
                  <a:srgbClr val="C8373D"/>
                </a:solidFill>
                <a:latin typeface="Segoe UI"/>
              </a:rPr>
              <a:t>—  </a:t>
            </a:r>
            <a:r>
              <a:rPr sz="1050">
                <a:solidFill>
                  <a:srgbClr val="1A1D29"/>
                </a:solidFill>
                <a:latin typeface="Segoe UI"/>
              </a:rPr>
              <a:t>Chưa có nguồn Zalo/YouTube</a:t>
            </a:r>
          </a:p>
          <a:p>
            <a:pPr>
              <a:lnSpc>
                <a:spcPct val="115000"/>
              </a:lnSpc>
              <a:spcAft>
                <a:spcPts val="700"/>
              </a:spcAft>
            </a:pPr>
            <a:r>
              <a:rPr sz="1050" b="1">
                <a:solidFill>
                  <a:srgbClr val="C8373D"/>
                </a:solidFill>
                <a:latin typeface="Segoe UI"/>
              </a:rPr>
              <a:t>—  </a:t>
            </a:r>
            <a:r>
              <a:rPr sz="1050">
                <a:solidFill>
                  <a:srgbClr val="1A1D29"/>
                </a:solidFill>
                <a:latin typeface="Segoe UI"/>
              </a:rPr>
              <a:t>Gom nhóm còn dựa khớp chuỗi nhãn</a:t>
            </a:r>
          </a:p>
        </p:txBody>
      </p:sp>
      <p:sp>
        <p:nvSpPr>
          <p:cNvPr id="16" name="Rectangle 15"/>
          <p:cNvSpPr/>
          <p:nvPr/>
        </p:nvSpPr>
        <p:spPr>
          <a:xfrm>
            <a:off x="4197096" y="1554480"/>
            <a:ext cx="3611880" cy="4846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97096" y="1554480"/>
            <a:ext cx="3611880" cy="566928"/>
          </a:xfrm>
          <a:prstGeom prst="rect">
            <a:avLst/>
          </a:prstGeom>
          <a:solidFill>
            <a:srgbClr val="6B4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79976" y="1664208"/>
            <a:ext cx="3246120" cy="384048"/>
          </a:xfrm>
          <a:prstGeom prst="rect">
            <a:avLst/>
          </a:prstGeom>
          <a:noFill/>
        </p:spPr>
        <p:txBody>
          <a:bodyPr wrap="square" anchor="t" lIns="0" rIns="0" tIns="0" bIns="0">
            <a:spAutoFit/>
          </a:bodyPr>
          <a:lstStyle/>
          <a:p>
            <a:pPr algn="l">
              <a:lnSpc>
                <a:spcPct val="102000"/>
              </a:lnSpc>
            </a:pPr>
            <a:r>
              <a:rPr sz="1300" b="1" i="0">
                <a:solidFill>
                  <a:srgbClr val="FFFFFF"/>
                </a:solidFill>
                <a:latin typeface="Segoe UI Semibold"/>
              </a:rPr>
              <a:t>ChatGPT Pro (Deep Research)</a:t>
            </a:r>
          </a:p>
        </p:txBody>
      </p:sp>
      <p:sp>
        <p:nvSpPr>
          <p:cNvPr id="19" name="TextBox 18"/>
          <p:cNvSpPr txBox="1"/>
          <p:nvPr/>
        </p:nvSpPr>
        <p:spPr>
          <a:xfrm>
            <a:off x="4379976" y="2267712"/>
            <a:ext cx="3246120" cy="274320"/>
          </a:xfrm>
          <a:prstGeom prst="rect">
            <a:avLst/>
          </a:prstGeom>
          <a:noFill/>
        </p:spPr>
        <p:txBody>
          <a:bodyPr wrap="square" anchor="t" lIns="0" rIns="0" tIns="0" bIns="0">
            <a:spAutoFit/>
          </a:bodyPr>
          <a:lstStyle/>
          <a:p>
            <a:pPr algn="l">
              <a:lnSpc>
                <a:spcPct val="100000"/>
              </a:lnSpc>
            </a:pPr>
            <a:r>
              <a:rPr sz="1050" b="1" i="0">
                <a:solidFill>
                  <a:srgbClr val="1E8E84"/>
                </a:solidFill>
                <a:latin typeface="Segoe UI Semibold"/>
              </a:rPr>
              <a:t>ĐIỂM MẠNH</a:t>
            </a:r>
          </a:p>
        </p:txBody>
      </p:sp>
      <p:sp>
        <p:nvSpPr>
          <p:cNvPr id="20" name="TextBox 19"/>
          <p:cNvSpPr txBox="1"/>
          <p:nvPr/>
        </p:nvSpPr>
        <p:spPr>
          <a:xfrm>
            <a:off x="4379976" y="2560320"/>
            <a:ext cx="3246120" cy="1737360"/>
          </a:xfrm>
          <a:prstGeom prst="rect">
            <a:avLst/>
          </a:prstGeom>
          <a:noFill/>
        </p:spPr>
        <p:txBody>
          <a:bodyPr wrap="square" lIns="0" rIns="0" tIns="0" bIns="0">
            <a:spAutoFit/>
          </a:bodyPr>
          <a:lstStyle/>
          <a:p>
            <a:pPr>
              <a:lnSpc>
                <a:spcPct val="115000"/>
              </a:lnSpc>
              <a:spcAft>
                <a:spcPts val="700"/>
              </a:spcAft>
            </a:pPr>
            <a:r>
              <a:rPr sz="1050" b="1">
                <a:solidFill>
                  <a:srgbClr val="1E8E84"/>
                </a:solidFill>
                <a:latin typeface="Segoe UI"/>
              </a:rPr>
              <a:t>—  </a:t>
            </a:r>
            <a:r>
              <a:rPr sz="1050">
                <a:solidFill>
                  <a:srgbClr val="1A1D29"/>
                </a:solidFill>
                <a:latin typeface="Segoe UI"/>
              </a:rPr>
              <a:t>Tổng hợp ngôn ngữ tự nhiên xuất sắc</a:t>
            </a:r>
          </a:p>
          <a:p>
            <a:pPr>
              <a:lnSpc>
                <a:spcPct val="115000"/>
              </a:lnSpc>
              <a:spcAft>
                <a:spcPts val="700"/>
              </a:spcAft>
            </a:pPr>
            <a:r>
              <a:rPr sz="1050" b="1">
                <a:solidFill>
                  <a:srgbClr val="1E8E84"/>
                </a:solidFill>
                <a:latin typeface="Segoe UI"/>
              </a:rPr>
              <a:t>—  </a:t>
            </a:r>
            <a:r>
              <a:rPr sz="1050">
                <a:solidFill>
                  <a:srgbClr val="1A1D29"/>
                </a:solidFill>
                <a:latin typeface="Segoe UI"/>
              </a:rPr>
              <a:t>Hỏi được bất kỳ câu hỏi mới ngay lập tức</a:t>
            </a:r>
          </a:p>
          <a:p>
            <a:pPr>
              <a:lnSpc>
                <a:spcPct val="115000"/>
              </a:lnSpc>
              <a:spcAft>
                <a:spcPts val="700"/>
              </a:spcAft>
            </a:pPr>
            <a:r>
              <a:rPr sz="1050" b="1">
                <a:solidFill>
                  <a:srgbClr val="1E8E84"/>
                </a:solidFill>
                <a:latin typeface="Segoe UI"/>
              </a:rPr>
              <a:t>—  </a:t>
            </a:r>
            <a:r>
              <a:rPr sz="1050">
                <a:solidFill>
                  <a:srgbClr val="1A1D29"/>
                </a:solidFill>
                <a:latin typeface="Segoe UI"/>
              </a:rPr>
              <a:t>Không cần setup hạ tầng</a:t>
            </a:r>
          </a:p>
          <a:p>
            <a:pPr>
              <a:lnSpc>
                <a:spcPct val="115000"/>
              </a:lnSpc>
              <a:spcAft>
                <a:spcPts val="700"/>
              </a:spcAft>
            </a:pPr>
            <a:r>
              <a:rPr sz="1050" b="1">
                <a:solidFill>
                  <a:srgbClr val="1E8E84"/>
                </a:solidFill>
                <a:latin typeface="Segoe UI"/>
              </a:rPr>
              <a:t>—  </a:t>
            </a:r>
            <a:r>
              <a:rPr sz="1050">
                <a:solidFill>
                  <a:srgbClr val="1A1D29"/>
                </a:solidFill>
                <a:latin typeface="Segoe UI"/>
              </a:rPr>
              <a:t>Rẻ cho nhu cầu không thường xuyên</a:t>
            </a:r>
          </a:p>
        </p:txBody>
      </p:sp>
      <p:sp>
        <p:nvSpPr>
          <p:cNvPr id="21" name="TextBox 20"/>
          <p:cNvSpPr txBox="1"/>
          <p:nvPr/>
        </p:nvSpPr>
        <p:spPr>
          <a:xfrm>
            <a:off x="4379976" y="4123944"/>
            <a:ext cx="3246120" cy="274320"/>
          </a:xfrm>
          <a:prstGeom prst="rect">
            <a:avLst/>
          </a:prstGeom>
          <a:noFill/>
        </p:spPr>
        <p:txBody>
          <a:bodyPr wrap="square" anchor="t" lIns="0" rIns="0" tIns="0" bIns="0">
            <a:spAutoFit/>
          </a:bodyPr>
          <a:lstStyle/>
          <a:p>
            <a:pPr algn="l">
              <a:lnSpc>
                <a:spcPct val="100000"/>
              </a:lnSpc>
            </a:pPr>
            <a:r>
              <a:rPr sz="1050" b="1" i="0">
                <a:solidFill>
                  <a:srgbClr val="C8373D"/>
                </a:solidFill>
                <a:latin typeface="Segoe UI Semibold"/>
              </a:rPr>
              <a:t>HẠN CHẾ</a:t>
            </a:r>
          </a:p>
        </p:txBody>
      </p:sp>
      <p:sp>
        <p:nvSpPr>
          <p:cNvPr id="22" name="TextBox 21"/>
          <p:cNvSpPr txBox="1"/>
          <p:nvPr/>
        </p:nvSpPr>
        <p:spPr>
          <a:xfrm>
            <a:off x="4379976" y="4416552"/>
            <a:ext cx="3246120" cy="1828800"/>
          </a:xfrm>
          <a:prstGeom prst="rect">
            <a:avLst/>
          </a:prstGeom>
          <a:noFill/>
        </p:spPr>
        <p:txBody>
          <a:bodyPr wrap="square" lIns="0" rIns="0" tIns="0" bIns="0">
            <a:spAutoFit/>
          </a:bodyPr>
          <a:lstStyle/>
          <a:p>
            <a:pPr>
              <a:lnSpc>
                <a:spcPct val="115000"/>
              </a:lnSpc>
              <a:spcAft>
                <a:spcPts val="700"/>
              </a:spcAft>
            </a:pPr>
            <a:r>
              <a:rPr sz="1050" b="1">
                <a:solidFill>
                  <a:srgbClr val="C8373D"/>
                </a:solidFill>
                <a:latin typeface="Segoe UI"/>
              </a:rPr>
              <a:t>—  </a:t>
            </a:r>
            <a:r>
              <a:rPr sz="1050">
                <a:solidFill>
                  <a:srgbClr val="1A1D29"/>
                </a:solidFill>
                <a:latin typeface="Segoe UI"/>
              </a:rPr>
              <a:t>Không tự lặp lại định kỳ</a:t>
            </a:r>
          </a:p>
          <a:p>
            <a:pPr>
              <a:lnSpc>
                <a:spcPct val="115000"/>
              </a:lnSpc>
              <a:spcAft>
                <a:spcPts val="700"/>
              </a:spcAft>
            </a:pPr>
            <a:r>
              <a:rPr sz="1050" b="1">
                <a:solidFill>
                  <a:srgbClr val="C8373D"/>
                </a:solidFill>
                <a:latin typeface="Segoe UI"/>
              </a:rPr>
              <a:t>—  </a:t>
            </a:r>
            <a:r>
              <a:rPr sz="1050">
                <a:solidFill>
                  <a:srgbClr val="1A1D29"/>
                </a:solidFill>
                <a:latin typeface="Segoe UI"/>
              </a:rPr>
              <a:t>Không vào được nguồn cần đăng nhập</a:t>
            </a:r>
          </a:p>
          <a:p>
            <a:pPr>
              <a:lnSpc>
                <a:spcPct val="115000"/>
              </a:lnSpc>
              <a:spcAft>
                <a:spcPts val="700"/>
              </a:spcAft>
            </a:pPr>
            <a:r>
              <a:rPr sz="1050" b="1">
                <a:solidFill>
                  <a:srgbClr val="C8373D"/>
                </a:solidFill>
                <a:latin typeface="Segoe UI"/>
              </a:rPr>
              <a:t>—  </a:t>
            </a:r>
            <a:r>
              <a:rPr sz="1050">
                <a:solidFill>
                  <a:srgbClr val="1A1D29"/>
                </a:solidFill>
                <a:latin typeface="Segoe UI"/>
              </a:rPr>
              <a:t>Không có bộ nhớ xu hướng dài hạn</a:t>
            </a:r>
          </a:p>
          <a:p>
            <a:pPr>
              <a:lnSpc>
                <a:spcPct val="115000"/>
              </a:lnSpc>
              <a:spcAft>
                <a:spcPts val="700"/>
              </a:spcAft>
            </a:pPr>
            <a:r>
              <a:rPr sz="1050" b="1">
                <a:solidFill>
                  <a:srgbClr val="C8373D"/>
                </a:solidFill>
                <a:latin typeface="Segoe UI"/>
              </a:rPr>
              <a:t>—  </a:t>
            </a:r>
            <a:r>
              <a:rPr sz="1050">
                <a:solidFill>
                  <a:srgbClr val="1A1D29"/>
                </a:solidFill>
                <a:latin typeface="Segoe UI"/>
              </a:rPr>
              <a:t>Không có SLA/workflow; chi phí nhân theo đầu người khi cả team cùng dùng</a:t>
            </a:r>
          </a:p>
        </p:txBody>
      </p:sp>
      <p:sp>
        <p:nvSpPr>
          <p:cNvPr id="23" name="Rectangle 22"/>
          <p:cNvSpPr/>
          <p:nvPr/>
        </p:nvSpPr>
        <p:spPr>
          <a:xfrm>
            <a:off x="7936992" y="1554480"/>
            <a:ext cx="3611880" cy="4846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936992" y="1554480"/>
            <a:ext cx="3611880" cy="566928"/>
          </a:xfrm>
          <a:prstGeom prst="rect">
            <a:avLst/>
          </a:prstGeom>
          <a:solidFill>
            <a:srgbClr val="1B4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19872" y="1664208"/>
            <a:ext cx="3246120" cy="384048"/>
          </a:xfrm>
          <a:prstGeom prst="rect">
            <a:avLst/>
          </a:prstGeom>
          <a:noFill/>
        </p:spPr>
        <p:txBody>
          <a:bodyPr wrap="square" anchor="t" lIns="0" rIns="0" tIns="0" bIns="0">
            <a:spAutoFit/>
          </a:bodyPr>
          <a:lstStyle/>
          <a:p>
            <a:pPr algn="l">
              <a:lnSpc>
                <a:spcPct val="102000"/>
              </a:lnSpc>
            </a:pPr>
            <a:r>
              <a:rPr sz="1300" b="1" i="0">
                <a:solidFill>
                  <a:srgbClr val="FFFFFF"/>
                </a:solidFill>
                <a:latin typeface="Segoe UI Semibold"/>
              </a:rPr>
              <a:t>Nền tảng Social Listening hiện có</a:t>
            </a:r>
          </a:p>
        </p:txBody>
      </p:sp>
      <p:sp>
        <p:nvSpPr>
          <p:cNvPr id="26" name="TextBox 25"/>
          <p:cNvSpPr txBox="1"/>
          <p:nvPr/>
        </p:nvSpPr>
        <p:spPr>
          <a:xfrm>
            <a:off x="8119872" y="2267712"/>
            <a:ext cx="3246120" cy="274320"/>
          </a:xfrm>
          <a:prstGeom prst="rect">
            <a:avLst/>
          </a:prstGeom>
          <a:noFill/>
        </p:spPr>
        <p:txBody>
          <a:bodyPr wrap="square" anchor="t" lIns="0" rIns="0" tIns="0" bIns="0">
            <a:spAutoFit/>
          </a:bodyPr>
          <a:lstStyle/>
          <a:p>
            <a:pPr algn="l">
              <a:lnSpc>
                <a:spcPct val="100000"/>
              </a:lnSpc>
            </a:pPr>
            <a:r>
              <a:rPr sz="1050" b="1" i="0">
                <a:solidFill>
                  <a:srgbClr val="1E8E84"/>
                </a:solidFill>
                <a:latin typeface="Segoe UI Semibold"/>
              </a:rPr>
              <a:t>ĐIỂM MẠNH</a:t>
            </a:r>
          </a:p>
        </p:txBody>
      </p:sp>
      <p:sp>
        <p:nvSpPr>
          <p:cNvPr id="27" name="TextBox 26"/>
          <p:cNvSpPr txBox="1"/>
          <p:nvPr/>
        </p:nvSpPr>
        <p:spPr>
          <a:xfrm>
            <a:off x="8119872" y="2560320"/>
            <a:ext cx="3246120" cy="1737360"/>
          </a:xfrm>
          <a:prstGeom prst="rect">
            <a:avLst/>
          </a:prstGeom>
          <a:noFill/>
        </p:spPr>
        <p:txBody>
          <a:bodyPr wrap="square" lIns="0" rIns="0" tIns="0" bIns="0">
            <a:spAutoFit/>
          </a:bodyPr>
          <a:lstStyle/>
          <a:p>
            <a:pPr>
              <a:lnSpc>
                <a:spcPct val="115000"/>
              </a:lnSpc>
              <a:spcAft>
                <a:spcPts val="700"/>
              </a:spcAft>
            </a:pPr>
            <a:r>
              <a:rPr sz="1050" b="1">
                <a:solidFill>
                  <a:srgbClr val="1E8E84"/>
                </a:solidFill>
                <a:latin typeface="Segoe UI"/>
              </a:rPr>
              <a:t>—  </a:t>
            </a:r>
            <a:r>
              <a:rPr sz="1050">
                <a:solidFill>
                  <a:srgbClr val="1A1D29"/>
                </a:solidFill>
                <a:latin typeface="Segoe UI"/>
              </a:rPr>
              <a:t>Rất trưởng thành, uy tín thị trường</a:t>
            </a:r>
          </a:p>
          <a:p>
            <a:pPr>
              <a:lnSpc>
                <a:spcPct val="115000"/>
              </a:lnSpc>
              <a:spcAft>
                <a:spcPts val="700"/>
              </a:spcAft>
            </a:pPr>
            <a:r>
              <a:rPr sz="1050" b="1">
                <a:solidFill>
                  <a:srgbClr val="1E8E84"/>
                </a:solidFill>
                <a:latin typeface="Segoe UI"/>
              </a:rPr>
              <a:t>—  </a:t>
            </a:r>
            <a:r>
              <a:rPr sz="1050">
                <a:solidFill>
                  <a:srgbClr val="1A1D29"/>
                </a:solidFill>
                <a:latin typeface="Segoe UI"/>
              </a:rPr>
              <a:t>Hỗ trợ đa ngôn ngữ toàn cầu</a:t>
            </a:r>
          </a:p>
          <a:p>
            <a:pPr>
              <a:lnSpc>
                <a:spcPct val="115000"/>
              </a:lnSpc>
              <a:spcAft>
                <a:spcPts val="700"/>
              </a:spcAft>
            </a:pPr>
            <a:r>
              <a:rPr sz="1050" b="1">
                <a:solidFill>
                  <a:srgbClr val="1E8E84"/>
                </a:solidFill>
                <a:latin typeface="Segoe UI"/>
              </a:rPr>
              <a:t>—  </a:t>
            </a:r>
            <a:r>
              <a:rPr sz="1050">
                <a:solidFill>
                  <a:srgbClr val="1A1D29"/>
                </a:solidFill>
                <a:latin typeface="Segoe UI"/>
              </a:rPr>
              <a:t>Đội ngũ support chuyên nghiệp</a:t>
            </a:r>
          </a:p>
        </p:txBody>
      </p:sp>
      <p:sp>
        <p:nvSpPr>
          <p:cNvPr id="28" name="TextBox 27"/>
          <p:cNvSpPr txBox="1"/>
          <p:nvPr/>
        </p:nvSpPr>
        <p:spPr>
          <a:xfrm>
            <a:off x="8119872" y="3813048"/>
            <a:ext cx="3246120" cy="274320"/>
          </a:xfrm>
          <a:prstGeom prst="rect">
            <a:avLst/>
          </a:prstGeom>
          <a:noFill/>
        </p:spPr>
        <p:txBody>
          <a:bodyPr wrap="square" anchor="t" lIns="0" rIns="0" tIns="0" bIns="0">
            <a:spAutoFit/>
          </a:bodyPr>
          <a:lstStyle/>
          <a:p>
            <a:pPr algn="l">
              <a:lnSpc>
                <a:spcPct val="100000"/>
              </a:lnSpc>
            </a:pPr>
            <a:r>
              <a:rPr sz="1050" b="1" i="0">
                <a:solidFill>
                  <a:srgbClr val="C8373D"/>
                </a:solidFill>
                <a:latin typeface="Segoe UI Semibold"/>
              </a:rPr>
              <a:t>HẠN CHẾ</a:t>
            </a:r>
          </a:p>
        </p:txBody>
      </p:sp>
      <p:sp>
        <p:nvSpPr>
          <p:cNvPr id="29" name="TextBox 28"/>
          <p:cNvSpPr txBox="1"/>
          <p:nvPr/>
        </p:nvSpPr>
        <p:spPr>
          <a:xfrm>
            <a:off x="8119872" y="4105656"/>
            <a:ext cx="3246120" cy="1828800"/>
          </a:xfrm>
          <a:prstGeom prst="rect">
            <a:avLst/>
          </a:prstGeom>
          <a:noFill/>
        </p:spPr>
        <p:txBody>
          <a:bodyPr wrap="square" lIns="0" rIns="0" tIns="0" bIns="0">
            <a:spAutoFit/>
          </a:bodyPr>
          <a:lstStyle/>
          <a:p>
            <a:pPr>
              <a:lnSpc>
                <a:spcPct val="115000"/>
              </a:lnSpc>
              <a:spcAft>
                <a:spcPts val="700"/>
              </a:spcAft>
            </a:pPr>
            <a:r>
              <a:rPr sz="1050" b="1">
                <a:solidFill>
                  <a:srgbClr val="C8373D"/>
                </a:solidFill>
                <a:latin typeface="Segoe UI"/>
              </a:rPr>
              <a:t>—  </a:t>
            </a:r>
            <a:r>
              <a:rPr sz="1050">
                <a:solidFill>
                  <a:srgbClr val="1A1D29"/>
                </a:solidFill>
                <a:latin typeface="Segoe UI"/>
              </a:rPr>
              <a:t>Không chuyên biệt ngành ngân hàng</a:t>
            </a:r>
          </a:p>
          <a:p>
            <a:pPr>
              <a:lnSpc>
                <a:spcPct val="115000"/>
              </a:lnSpc>
              <a:spcAft>
                <a:spcPts val="700"/>
              </a:spcAft>
            </a:pPr>
            <a:r>
              <a:rPr sz="1050" b="1">
                <a:solidFill>
                  <a:srgbClr val="C8373D"/>
                </a:solidFill>
                <a:latin typeface="Segoe UI"/>
              </a:rPr>
              <a:t>—  </a:t>
            </a:r>
            <a:r>
              <a:rPr sz="1050">
                <a:solidFill>
                  <a:srgbClr val="1A1D29"/>
                </a:solidFill>
                <a:latin typeface="Segoe UI"/>
              </a:rPr>
              <a:t>Chi phí rất cao</a:t>
            </a:r>
          </a:p>
          <a:p>
            <a:pPr>
              <a:lnSpc>
                <a:spcPct val="115000"/>
              </a:lnSpc>
              <a:spcAft>
                <a:spcPts val="700"/>
              </a:spcAft>
            </a:pPr>
            <a:r>
              <a:rPr sz="1050" b="1">
                <a:solidFill>
                  <a:srgbClr val="C8373D"/>
                </a:solidFill>
                <a:latin typeface="Segoe UI"/>
              </a:rPr>
              <a:t>—  </a:t>
            </a:r>
            <a:r>
              <a:rPr sz="1050">
                <a:solidFill>
                  <a:srgbClr val="1A1D29"/>
                </a:solidFill>
                <a:latin typeface="Segoe UI"/>
              </a:rPr>
              <a:t>Không đối chiếu quy định NHNN</a:t>
            </a:r>
          </a:p>
          <a:p>
            <a:pPr>
              <a:lnSpc>
                <a:spcPct val="115000"/>
              </a:lnSpc>
              <a:spcAft>
                <a:spcPts val="700"/>
              </a:spcAft>
            </a:pPr>
            <a:r>
              <a:rPr sz="1050" b="1">
                <a:solidFill>
                  <a:srgbClr val="C8373D"/>
                </a:solidFill>
                <a:latin typeface="Segoe UI"/>
              </a:rPr>
              <a:t>—  </a:t>
            </a:r>
            <a:r>
              <a:rPr sz="1050">
                <a:solidFill>
                  <a:srgbClr val="1A1D29"/>
                </a:solidFill>
                <a:latin typeface="Segoe UI"/>
              </a:rPr>
              <a:t>Không gom pain point theo SLA nội bộ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38100"/>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0058400" cy="274320"/>
          </a:xfrm>
          <a:prstGeom prst="rect">
            <a:avLst/>
          </a:prstGeom>
          <a:noFill/>
        </p:spPr>
        <p:txBody>
          <a:bodyPr wrap="square" anchor="t" lIns="0" rIns="0" tIns="0" bIns="0">
            <a:spAutoFit/>
          </a:bodyPr>
          <a:lstStyle/>
          <a:p>
            <a:pPr algn="l">
              <a:lnSpc>
                <a:spcPct val="100000"/>
              </a:lnSpc>
            </a:pPr>
            <a:r>
              <a:rPr sz="1150" b="1" i="0">
                <a:solidFill>
                  <a:srgbClr val="2EC4B6"/>
                </a:solidFill>
                <a:latin typeface="Segoe UI Semibold"/>
              </a:rPr>
              <a:t>ĐÁNH GIÁ TRUNG THỰC</a:t>
            </a:r>
          </a:p>
        </p:txBody>
      </p:sp>
      <p:sp>
        <p:nvSpPr>
          <p:cNvPr id="5" name="TextBox 4"/>
          <p:cNvSpPr txBox="1"/>
          <p:nvPr/>
        </p:nvSpPr>
        <p:spPr>
          <a:xfrm>
            <a:off x="548640" y="420624"/>
            <a:ext cx="10972800" cy="640080"/>
          </a:xfrm>
          <a:prstGeom prst="rect">
            <a:avLst/>
          </a:prstGeom>
          <a:noFill/>
        </p:spPr>
        <p:txBody>
          <a:bodyPr wrap="square" anchor="t" lIns="0" rIns="0" tIns="0" bIns="0">
            <a:spAutoFit/>
          </a:bodyPr>
          <a:lstStyle/>
          <a:p>
            <a:pPr algn="l">
              <a:lnSpc>
                <a:spcPct val="100000"/>
              </a:lnSpc>
            </a:pPr>
            <a:r>
              <a:rPr sz="2700" b="1" i="0">
                <a:solidFill>
                  <a:srgbClr val="FFFFFF"/>
                </a:solidFill>
                <a:latin typeface="Segoe UI Semibold"/>
              </a:rPr>
              <a:t>Khi nào KHÔNG cần trả tiền cho hệ thống</a:t>
            </a:r>
          </a:p>
        </p:txBody>
      </p:sp>
      <p:sp>
        <p:nvSpPr>
          <p:cNvPr id="6" name="Rectangle 5"/>
          <p:cNvSpPr/>
          <p:nvPr/>
        </p:nvSpPr>
        <p:spPr>
          <a:xfrm>
            <a:off x="0" y="6565392"/>
            <a:ext cx="12191695" cy="292608"/>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65392"/>
            <a:ext cx="7315200" cy="292608"/>
          </a:xfrm>
          <a:prstGeom prst="rect">
            <a:avLst/>
          </a:prstGeom>
          <a:noFill/>
        </p:spPr>
        <p:txBody>
          <a:bodyPr wrap="square" anchor="ctr" lIns="0" rIns="0" tIns="0" bIns="0">
            <a:spAutoFit/>
          </a:bodyPr>
          <a:lstStyle/>
          <a:p>
            <a:pPr algn="l">
              <a:lnSpc>
                <a:spcPct val="100000"/>
              </a:lnSpc>
            </a:pPr>
            <a:r>
              <a:rPr sz="900" b="0" i="0">
                <a:solidFill>
                  <a:srgbClr val="B9C4D6"/>
                </a:solidFill>
                <a:latin typeface="Segoe UI"/>
              </a:rPr>
              <a:t>VigiBank  ·  Khi nào không cần</a:t>
            </a:r>
          </a:p>
        </p:txBody>
      </p:sp>
      <p:sp>
        <p:nvSpPr>
          <p:cNvPr id="8" name="TextBox 7"/>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B9C4D6"/>
                </a:solidFill>
                <a:latin typeface="Segoe UI"/>
              </a:rPr>
              <a:t>10</a:t>
            </a:r>
          </a:p>
        </p:txBody>
      </p:sp>
      <p:sp>
        <p:nvSpPr>
          <p:cNvPr id="9" name="Rectangle 8"/>
          <p:cNvSpPr/>
          <p:nvPr/>
        </p:nvSpPr>
        <p:spPr>
          <a:xfrm>
            <a:off x="548640" y="1600200"/>
            <a:ext cx="11109960" cy="54864"/>
          </a:xfrm>
          <a:prstGeom prst="rect">
            <a:avLst/>
          </a:prstGeom>
          <a:solidFill>
            <a:srgbClr val="C7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874519"/>
            <a:ext cx="10789920" cy="3291840"/>
          </a:xfrm>
          <a:prstGeom prst="rect">
            <a:avLst/>
          </a:prstGeom>
          <a:noFill/>
        </p:spPr>
        <p:txBody>
          <a:bodyPr wrap="square" lIns="0" rIns="0" tIns="0" bIns="0">
            <a:spAutoFit/>
          </a:bodyPr>
          <a:lstStyle/>
          <a:p>
            <a:pPr>
              <a:lnSpc>
                <a:spcPct val="108000"/>
              </a:lnSpc>
              <a:spcAft>
                <a:spcPts val="1600"/>
              </a:spcAft>
            </a:pPr>
            <a:r>
              <a:rPr sz="1550" b="1">
                <a:solidFill>
                  <a:srgbClr val="1E8E84"/>
                </a:solidFill>
                <a:latin typeface="Segoe UI"/>
              </a:rPr>
              <a:t>—  </a:t>
            </a:r>
            <a:r>
              <a:rPr sz="1550">
                <a:solidFill>
                  <a:srgbClr val="1A1D29"/>
                </a:solidFill>
                <a:latin typeface="Segoe UI"/>
              </a:rPr>
              <a:t>Doanh nghiệp hoặc chi nhánh nhỏ, lượng phản hồi thấp (vài review/tuần), không cần phát hiện theo thời gian thực.</a:t>
            </a:r>
          </a:p>
          <a:p>
            <a:pPr>
              <a:lnSpc>
                <a:spcPct val="108000"/>
              </a:lnSpc>
              <a:spcAft>
                <a:spcPts val="1600"/>
              </a:spcAft>
            </a:pPr>
            <a:r>
              <a:rPr sz="1550" b="1">
                <a:solidFill>
                  <a:srgbClr val="1E8E84"/>
                </a:solidFill>
                <a:latin typeface="Segoe UI"/>
              </a:rPr>
              <a:t>—  </a:t>
            </a:r>
            <a:r>
              <a:rPr sz="1550">
                <a:solidFill>
                  <a:srgbClr val="1A1D29"/>
                </a:solidFill>
                <a:latin typeface="Segoe UI"/>
              </a:rPr>
              <a:t>Chỉ cần theo dõi 1-2 kênh, không cần tổng hợp đa nguồn song song.</a:t>
            </a:r>
          </a:p>
          <a:p>
            <a:pPr>
              <a:lnSpc>
                <a:spcPct val="108000"/>
              </a:lnSpc>
              <a:spcAft>
                <a:spcPts val="1600"/>
              </a:spcAft>
            </a:pPr>
            <a:r>
              <a:rPr sz="1550" b="1">
                <a:solidFill>
                  <a:srgbClr val="1E8E84"/>
                </a:solidFill>
                <a:latin typeface="Segoe UI"/>
              </a:rPr>
              <a:t>—  </a:t>
            </a:r>
            <a:r>
              <a:rPr sz="1550">
                <a:solidFill>
                  <a:srgbClr val="1A1D29"/>
                </a:solidFill>
                <a:latin typeface="Segoe UI"/>
              </a:rPr>
              <a:t>Không chịu ràng buộc pháp lý cần đối chiếu quy định thường xuyên.</a:t>
            </a:r>
          </a:p>
          <a:p>
            <a:pPr>
              <a:lnSpc>
                <a:spcPct val="108000"/>
              </a:lnSpc>
              <a:spcAft>
                <a:spcPts val="1600"/>
              </a:spcAft>
            </a:pPr>
            <a:r>
              <a:rPr sz="1550" b="1">
                <a:solidFill>
                  <a:srgbClr val="1E8E84"/>
                </a:solidFill>
                <a:latin typeface="Segoe UI"/>
              </a:rPr>
              <a:t>—  </a:t>
            </a:r>
            <a:r>
              <a:rPr sz="1550">
                <a:solidFill>
                  <a:srgbClr val="1A1D29"/>
                </a:solidFill>
                <a:latin typeface="Segoe UI"/>
              </a:rPr>
              <a:t>Thỉnh thoảng mới cần tìm hiểu 1 vấn đề — dùng ChatGPT Pro Deep Research để nghiên cứu nhanh 1 lần là đủ, không cần trả thêm cho hệ thống giám sát liên tục.</a:t>
            </a:r>
          </a:p>
        </p:txBody>
      </p:sp>
      <p:sp>
        <p:nvSpPr>
          <p:cNvPr id="11" name="Rectangle 10"/>
          <p:cNvSpPr/>
          <p:nvPr/>
        </p:nvSpPr>
        <p:spPr>
          <a:xfrm>
            <a:off x="548640" y="5212080"/>
            <a:ext cx="11109960" cy="914400"/>
          </a:xfrm>
          <a:prstGeom prst="rect">
            <a:avLst/>
          </a:prstGeom>
          <a:solidFill>
            <a:srgbClr val="FBF2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5349240"/>
            <a:ext cx="10515600" cy="640080"/>
          </a:xfrm>
          <a:prstGeom prst="rect">
            <a:avLst/>
          </a:prstGeom>
          <a:noFill/>
        </p:spPr>
        <p:txBody>
          <a:bodyPr wrap="square" anchor="ctr" lIns="0" rIns="0" tIns="0" bIns="0">
            <a:spAutoFit/>
          </a:bodyPr>
          <a:lstStyle/>
          <a:p>
            <a:pPr algn="l">
              <a:lnSpc>
                <a:spcPct val="100000"/>
              </a:lnSpc>
            </a:pPr>
            <a:r>
              <a:rPr sz="1350" b="1" i="0">
                <a:solidFill>
                  <a:srgbClr val="C78A1E"/>
                </a:solidFill>
                <a:latin typeface="Segoe UI"/>
              </a:rPr>
              <a:t>Ghi nhận rõ ràng: đây là phân khúc mà VigiBank KHÔNG nên nhắm tới — bán cho nhóm này là lãng phí tiền của khách hàng.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38100"/>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0058400" cy="274320"/>
          </a:xfrm>
          <a:prstGeom prst="rect">
            <a:avLst/>
          </a:prstGeom>
          <a:noFill/>
        </p:spPr>
        <p:txBody>
          <a:bodyPr wrap="square" anchor="t" lIns="0" rIns="0" tIns="0" bIns="0">
            <a:spAutoFit/>
          </a:bodyPr>
          <a:lstStyle/>
          <a:p>
            <a:pPr algn="l">
              <a:lnSpc>
                <a:spcPct val="100000"/>
              </a:lnSpc>
            </a:pPr>
            <a:r>
              <a:rPr sz="1150" b="1" i="0">
                <a:solidFill>
                  <a:srgbClr val="2EC4B6"/>
                </a:solidFill>
                <a:latin typeface="Segoe UI Semibold"/>
              </a:rPr>
              <a:t>ĐÁNH GIÁ TRUNG THỰC</a:t>
            </a:r>
          </a:p>
        </p:txBody>
      </p:sp>
      <p:sp>
        <p:nvSpPr>
          <p:cNvPr id="5" name="TextBox 4"/>
          <p:cNvSpPr txBox="1"/>
          <p:nvPr/>
        </p:nvSpPr>
        <p:spPr>
          <a:xfrm>
            <a:off x="548640" y="420624"/>
            <a:ext cx="10972800" cy="640080"/>
          </a:xfrm>
          <a:prstGeom prst="rect">
            <a:avLst/>
          </a:prstGeom>
          <a:noFill/>
        </p:spPr>
        <p:txBody>
          <a:bodyPr wrap="square" anchor="t" lIns="0" rIns="0" tIns="0" bIns="0">
            <a:spAutoFit/>
          </a:bodyPr>
          <a:lstStyle/>
          <a:p>
            <a:pPr algn="l">
              <a:lnSpc>
                <a:spcPct val="100000"/>
              </a:lnSpc>
            </a:pPr>
            <a:r>
              <a:rPr sz="2700" b="1" i="0">
                <a:solidFill>
                  <a:srgbClr val="FFFFFF"/>
                </a:solidFill>
                <a:latin typeface="Segoe UI Semibold"/>
              </a:rPr>
              <a:t>Khi nào NÊN trả tiền cho hệ thống</a:t>
            </a:r>
          </a:p>
        </p:txBody>
      </p:sp>
      <p:sp>
        <p:nvSpPr>
          <p:cNvPr id="6" name="Rectangle 5"/>
          <p:cNvSpPr/>
          <p:nvPr/>
        </p:nvSpPr>
        <p:spPr>
          <a:xfrm>
            <a:off x="0" y="6565392"/>
            <a:ext cx="12191695" cy="292608"/>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65392"/>
            <a:ext cx="7315200" cy="292608"/>
          </a:xfrm>
          <a:prstGeom prst="rect">
            <a:avLst/>
          </a:prstGeom>
          <a:noFill/>
        </p:spPr>
        <p:txBody>
          <a:bodyPr wrap="square" anchor="ctr" lIns="0" rIns="0" tIns="0" bIns="0">
            <a:spAutoFit/>
          </a:bodyPr>
          <a:lstStyle/>
          <a:p>
            <a:pPr algn="l">
              <a:lnSpc>
                <a:spcPct val="100000"/>
              </a:lnSpc>
            </a:pPr>
            <a:r>
              <a:rPr sz="900" b="0" i="0">
                <a:solidFill>
                  <a:srgbClr val="B9C4D6"/>
                </a:solidFill>
                <a:latin typeface="Segoe UI"/>
              </a:rPr>
              <a:t>VigiBank  ·  Khi nào nên trả tiền</a:t>
            </a:r>
          </a:p>
        </p:txBody>
      </p:sp>
      <p:sp>
        <p:nvSpPr>
          <p:cNvPr id="8" name="TextBox 7"/>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B9C4D6"/>
                </a:solidFill>
                <a:latin typeface="Segoe UI"/>
              </a:rPr>
              <a:t>11</a:t>
            </a:r>
          </a:p>
        </p:txBody>
      </p:sp>
      <p:sp>
        <p:nvSpPr>
          <p:cNvPr id="9" name="Rectangle 8"/>
          <p:cNvSpPr/>
          <p:nvPr/>
        </p:nvSpPr>
        <p:spPr>
          <a:xfrm>
            <a:off x="548640" y="1600200"/>
            <a:ext cx="11109960" cy="54864"/>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874519"/>
            <a:ext cx="10789920" cy="4206240"/>
          </a:xfrm>
          <a:prstGeom prst="rect">
            <a:avLst/>
          </a:prstGeom>
          <a:noFill/>
        </p:spPr>
        <p:txBody>
          <a:bodyPr wrap="square" lIns="0" rIns="0" tIns="0" bIns="0">
            <a:spAutoFit/>
          </a:bodyPr>
          <a:lstStyle/>
          <a:p>
            <a:pPr>
              <a:lnSpc>
                <a:spcPct val="108000"/>
              </a:lnSpc>
              <a:spcAft>
                <a:spcPts val="1400"/>
              </a:spcAft>
            </a:pPr>
            <a:r>
              <a:rPr sz="1550" b="1">
                <a:solidFill>
                  <a:srgbClr val="1E8E84"/>
                </a:solidFill>
                <a:latin typeface="Segoe UI"/>
              </a:rPr>
              <a:t>—  </a:t>
            </a:r>
            <a:r>
              <a:rPr sz="1550">
                <a:solidFill>
                  <a:srgbClr val="1A1D29"/>
                </a:solidFill>
                <a:latin typeface="Segoe UI"/>
              </a:rPr>
              <a:t>Khối lượng phản hồi lớn, trải nhiều kênh, phát sinh liên tục mỗi ngày.</a:t>
            </a:r>
          </a:p>
          <a:p>
            <a:pPr>
              <a:lnSpc>
                <a:spcPct val="108000"/>
              </a:lnSpc>
              <a:spcAft>
                <a:spcPts val="1400"/>
              </a:spcAft>
            </a:pPr>
            <a:r>
              <a:rPr sz="1550" b="1">
                <a:solidFill>
                  <a:srgbClr val="1E8E84"/>
                </a:solidFill>
                <a:latin typeface="Segoe UI"/>
              </a:rPr>
              <a:t>—  </a:t>
            </a:r>
            <a:r>
              <a:rPr sz="1550">
                <a:solidFill>
                  <a:srgbClr val="1A1D29"/>
                </a:solidFill>
                <a:latin typeface="Segoe UI"/>
              </a:rPr>
              <a:t>Cần phát hiện sớm vấn đề trước khi lan truyền trên mạng xã hội hoặc lên báo.</a:t>
            </a:r>
          </a:p>
          <a:p>
            <a:pPr>
              <a:lnSpc>
                <a:spcPct val="108000"/>
              </a:lnSpc>
              <a:spcAft>
                <a:spcPts val="1400"/>
              </a:spcAft>
            </a:pPr>
            <a:r>
              <a:rPr sz="1550" b="1">
                <a:solidFill>
                  <a:srgbClr val="1E8E84"/>
                </a:solidFill>
                <a:latin typeface="Segoe UI"/>
              </a:rPr>
              <a:t>—  </a:t>
            </a:r>
            <a:r>
              <a:rPr sz="1550">
                <a:solidFill>
                  <a:srgbClr val="1A1D29"/>
                </a:solidFill>
                <a:latin typeface="Segoe UI"/>
              </a:rPr>
              <a:t>Cần một quy trình xử lý có trách nhiệm giải trình: giao việc, SLA, theo dõi tiến độ theo phòng ban.</a:t>
            </a:r>
          </a:p>
          <a:p>
            <a:pPr>
              <a:lnSpc>
                <a:spcPct val="108000"/>
              </a:lnSpc>
              <a:spcAft>
                <a:spcPts val="1400"/>
              </a:spcAft>
            </a:pPr>
            <a:r>
              <a:rPr sz="1550" b="1">
                <a:solidFill>
                  <a:srgbClr val="1E8E84"/>
                </a:solidFill>
                <a:latin typeface="Segoe UI"/>
              </a:rPr>
              <a:t>—  </a:t>
            </a:r>
            <a:r>
              <a:rPr sz="1550">
                <a:solidFill>
                  <a:srgbClr val="1A1D29"/>
                </a:solidFill>
                <a:latin typeface="Segoe UI"/>
              </a:rPr>
              <a:t>Cần đối chiếu tự động với quy định/chính sách nội bộ để tránh phản hồi sai hoặc chậm trễ.</a:t>
            </a:r>
          </a:p>
          <a:p>
            <a:pPr>
              <a:lnSpc>
                <a:spcPct val="108000"/>
              </a:lnSpc>
              <a:spcAft>
                <a:spcPts val="1400"/>
              </a:spcAft>
            </a:pPr>
            <a:r>
              <a:rPr sz="1550" b="1">
                <a:solidFill>
                  <a:srgbClr val="1E8E84"/>
                </a:solidFill>
                <a:latin typeface="Segoe UI"/>
              </a:rPr>
              <a:t>—  </a:t>
            </a:r>
            <a:r>
              <a:rPr sz="1550">
                <a:solidFill>
                  <a:srgbClr val="1A1D29"/>
                </a:solidFill>
                <a:latin typeface="Segoe UI"/>
              </a:rPr>
              <a:t>Cần dấu vết (audit trail) phục vụ báo cáo nội bộ và tuân thủ.</a:t>
            </a:r>
          </a:p>
          <a:p>
            <a:pPr>
              <a:lnSpc>
                <a:spcPct val="108000"/>
              </a:lnSpc>
              <a:spcAft>
                <a:spcPts val="1400"/>
              </a:spcAft>
            </a:pPr>
            <a:r>
              <a:rPr sz="1550" b="1">
                <a:solidFill>
                  <a:srgbClr val="1E8E84"/>
                </a:solidFill>
                <a:latin typeface="Segoe UI"/>
              </a:rPr>
              <a:t>—  </a:t>
            </a:r>
            <a:r>
              <a:rPr sz="1550">
                <a:solidFill>
                  <a:srgbClr val="1A1D29"/>
                </a:solidFill>
                <a:latin typeface="Segoe UI"/>
              </a:rPr>
              <a:t>Chi phí nhân sự đọc thủ công hàng trăm review mỗi ngày, trong đa số trường hợp, cao hơn chi phí subscription.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38100"/>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0058400" cy="274320"/>
          </a:xfrm>
          <a:prstGeom prst="rect">
            <a:avLst/>
          </a:prstGeom>
          <a:noFill/>
        </p:spPr>
        <p:txBody>
          <a:bodyPr wrap="square" anchor="t" lIns="0" rIns="0" tIns="0" bIns="0">
            <a:spAutoFit/>
          </a:bodyPr>
          <a:lstStyle/>
          <a:p>
            <a:pPr algn="l">
              <a:lnSpc>
                <a:spcPct val="100000"/>
              </a:lnSpc>
            </a:pPr>
            <a:r>
              <a:rPr sz="1150" b="1" i="0">
                <a:solidFill>
                  <a:srgbClr val="2EC4B6"/>
                </a:solidFill>
                <a:latin typeface="Segoe UI Semibold"/>
              </a:rPr>
              <a:t>ĐỊNH VỊ CHIẾN LƯỢC</a:t>
            </a:r>
          </a:p>
        </p:txBody>
      </p:sp>
      <p:sp>
        <p:nvSpPr>
          <p:cNvPr id="5" name="TextBox 4"/>
          <p:cNvSpPr txBox="1"/>
          <p:nvPr/>
        </p:nvSpPr>
        <p:spPr>
          <a:xfrm>
            <a:off x="548640" y="420624"/>
            <a:ext cx="10972800" cy="640080"/>
          </a:xfrm>
          <a:prstGeom prst="rect">
            <a:avLst/>
          </a:prstGeom>
          <a:noFill/>
        </p:spPr>
        <p:txBody>
          <a:bodyPr wrap="square" anchor="t" lIns="0" rIns="0" tIns="0" bIns="0">
            <a:spAutoFit/>
          </a:bodyPr>
          <a:lstStyle/>
          <a:p>
            <a:pPr algn="l">
              <a:lnSpc>
                <a:spcPct val="100000"/>
              </a:lnSpc>
            </a:pPr>
            <a:r>
              <a:rPr sz="2700" b="1" i="0">
                <a:solidFill>
                  <a:srgbClr val="FFFFFF"/>
                </a:solidFill>
                <a:latin typeface="Segoe UI Semibold"/>
              </a:rPr>
              <a:t>VigiBank không cạnh tranh với ChatGPT</a:t>
            </a:r>
          </a:p>
        </p:txBody>
      </p:sp>
      <p:sp>
        <p:nvSpPr>
          <p:cNvPr id="6" name="Rectangle 5"/>
          <p:cNvSpPr/>
          <p:nvPr/>
        </p:nvSpPr>
        <p:spPr>
          <a:xfrm>
            <a:off x="0" y="6565392"/>
            <a:ext cx="12191695" cy="292608"/>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65392"/>
            <a:ext cx="7315200" cy="292608"/>
          </a:xfrm>
          <a:prstGeom prst="rect">
            <a:avLst/>
          </a:prstGeom>
          <a:noFill/>
        </p:spPr>
        <p:txBody>
          <a:bodyPr wrap="square" anchor="ctr" lIns="0" rIns="0" tIns="0" bIns="0">
            <a:spAutoFit/>
          </a:bodyPr>
          <a:lstStyle/>
          <a:p>
            <a:pPr algn="l">
              <a:lnSpc>
                <a:spcPct val="100000"/>
              </a:lnSpc>
            </a:pPr>
            <a:r>
              <a:rPr sz="900" b="0" i="0">
                <a:solidFill>
                  <a:srgbClr val="B9C4D6"/>
                </a:solidFill>
                <a:latin typeface="Segoe UI"/>
              </a:rPr>
              <a:t>VigiBank  ·  Định vị chiến lược</a:t>
            </a:r>
          </a:p>
        </p:txBody>
      </p:sp>
      <p:sp>
        <p:nvSpPr>
          <p:cNvPr id="8" name="TextBox 7"/>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B9C4D6"/>
                </a:solidFill>
                <a:latin typeface="Segoe UI"/>
              </a:rPr>
              <a:t>12</a:t>
            </a:r>
          </a:p>
        </p:txBody>
      </p:sp>
      <p:sp>
        <p:nvSpPr>
          <p:cNvPr id="9" name="Rectangle 8"/>
          <p:cNvSpPr/>
          <p:nvPr/>
        </p:nvSpPr>
        <p:spPr>
          <a:xfrm>
            <a:off x="548640" y="1828800"/>
            <a:ext cx="11109960" cy="1554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28800"/>
            <a:ext cx="73152" cy="1554480"/>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011680"/>
            <a:ext cx="10332720" cy="1234440"/>
          </a:xfrm>
          <a:prstGeom prst="rect">
            <a:avLst/>
          </a:prstGeom>
          <a:noFill/>
        </p:spPr>
        <p:txBody>
          <a:bodyPr wrap="square" anchor="t" lIns="0" rIns="0" tIns="0" bIns="0">
            <a:spAutoFit/>
          </a:bodyPr>
          <a:lstStyle/>
          <a:p>
            <a:pPr algn="l">
              <a:lnSpc>
                <a:spcPct val="130000"/>
              </a:lnSpc>
            </a:pPr>
            <a:r>
              <a:rPr sz="1750" b="0" i="1">
                <a:solidFill>
                  <a:srgbClr val="0B1F3A"/>
                </a:solidFill>
                <a:latin typeface="Segoe UI Semibold"/>
              </a:rPr>
              <a:t>“ChatGPT Pro (kể cả Deep Research) là một nhà nghiên cứu rất giỏi mà bạn phải tự thuê theo giờ.</a:t>
            </a:r>
          </a:p>
          <a:p>
            <a:pPr algn="l">
              <a:lnSpc>
                <a:spcPct val="130000"/>
              </a:lnSpc>
            </a:pPr>
            <a:r>
              <a:rPr sz="1750" b="0" i="1">
                <a:solidFill>
                  <a:srgbClr val="0B1F3A"/>
                </a:solidFill>
                <a:latin typeface="Segoe UI Semibold"/>
              </a:rPr>
              <a:t>VigiBank là một nhân viên giám sát làm việc 24/7, tự động, có quy trình</a:t>
            </a:r>
          </a:p>
          <a:p>
            <a:pPr algn="l">
              <a:lnSpc>
                <a:spcPct val="130000"/>
              </a:lnSpc>
            </a:pPr>
            <a:r>
              <a:rPr sz="1750" b="0" i="1">
                <a:solidFill>
                  <a:srgbClr val="0B1F3A"/>
                </a:solidFill>
                <a:latin typeface="Segoe UI Semibold"/>
              </a:rPr>
              <a:t>— không cần ai ngồi hỏi mỗi lần.”</a:t>
            </a:r>
          </a:p>
        </p:txBody>
      </p:sp>
      <p:sp>
        <p:nvSpPr>
          <p:cNvPr id="12" name="TextBox 11"/>
          <p:cNvSpPr txBox="1"/>
          <p:nvPr/>
        </p:nvSpPr>
        <p:spPr>
          <a:xfrm>
            <a:off x="548640" y="3749039"/>
            <a:ext cx="10972800" cy="365760"/>
          </a:xfrm>
          <a:prstGeom prst="rect">
            <a:avLst/>
          </a:prstGeom>
          <a:noFill/>
        </p:spPr>
        <p:txBody>
          <a:bodyPr wrap="square" anchor="t" lIns="0" rIns="0" tIns="0" bIns="0">
            <a:spAutoFit/>
          </a:bodyPr>
          <a:lstStyle/>
          <a:p>
            <a:pPr algn="l">
              <a:lnSpc>
                <a:spcPct val="100000"/>
              </a:lnSpc>
            </a:pPr>
            <a:r>
              <a:rPr sz="1400" b="1" i="0">
                <a:solidFill>
                  <a:srgbClr val="0B1F3A"/>
                </a:solidFill>
                <a:latin typeface="Segoe UI Semibold"/>
              </a:rPr>
              <a:t>Ví von dễ hình dung:</a:t>
            </a:r>
          </a:p>
        </p:txBody>
      </p:sp>
      <p:sp>
        <p:nvSpPr>
          <p:cNvPr id="13" name="Rectangle 12"/>
          <p:cNvSpPr/>
          <p:nvPr/>
        </p:nvSpPr>
        <p:spPr>
          <a:xfrm>
            <a:off x="548640" y="4206240"/>
            <a:ext cx="5394960" cy="1920240"/>
          </a:xfrm>
          <a:prstGeom prst="rect">
            <a:avLst/>
          </a:prstGeom>
          <a:solidFill>
            <a:srgbClr val="EA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4389120"/>
            <a:ext cx="4846320" cy="365760"/>
          </a:xfrm>
          <a:prstGeom prst="rect">
            <a:avLst/>
          </a:prstGeom>
          <a:noFill/>
        </p:spPr>
        <p:txBody>
          <a:bodyPr wrap="square" anchor="t" lIns="0" rIns="0" tIns="0" bIns="0">
            <a:spAutoFit/>
          </a:bodyPr>
          <a:lstStyle/>
          <a:p>
            <a:pPr algn="l">
              <a:lnSpc>
                <a:spcPct val="100000"/>
              </a:lnSpc>
            </a:pPr>
            <a:r>
              <a:rPr sz="1450" b="1" i="0">
                <a:solidFill>
                  <a:srgbClr val="0B1F3A"/>
                </a:solidFill>
                <a:latin typeface="Segoe UI Semibold"/>
              </a:rPr>
              <a:t>Thuê một nhà nghiên cứu giỏi, trả theo giờ</a:t>
            </a:r>
          </a:p>
        </p:txBody>
      </p:sp>
      <p:sp>
        <p:nvSpPr>
          <p:cNvPr id="15" name="TextBox 14"/>
          <p:cNvSpPr txBox="1"/>
          <p:nvPr/>
        </p:nvSpPr>
        <p:spPr>
          <a:xfrm>
            <a:off x="822960" y="4800600"/>
            <a:ext cx="4846320" cy="1188720"/>
          </a:xfrm>
          <a:prstGeom prst="rect">
            <a:avLst/>
          </a:prstGeom>
          <a:noFill/>
        </p:spPr>
        <p:txBody>
          <a:bodyPr wrap="square" anchor="t" lIns="0" rIns="0" tIns="0" bIns="0">
            <a:spAutoFit/>
          </a:bodyPr>
          <a:lstStyle/>
          <a:p>
            <a:pPr algn="l">
              <a:lnSpc>
                <a:spcPct val="120000"/>
              </a:lnSpc>
            </a:pPr>
            <a:r>
              <a:rPr sz="1300" b="0" i="0">
                <a:solidFill>
                  <a:srgbClr val="6B7280"/>
                </a:solidFill>
                <a:latin typeface="Segoe UI"/>
              </a:rPr>
              <a:t>Deep Research rất giỏi, nhưng mỗi lần cần thông tin mới phải tự đặt câu hỏi lại, tự chờ vài phút, tự đọc và tổng hợp kết quả.</a:t>
            </a:r>
          </a:p>
        </p:txBody>
      </p:sp>
      <p:sp>
        <p:nvSpPr>
          <p:cNvPr id="16" name="Rectangle 15"/>
          <p:cNvSpPr/>
          <p:nvPr/>
        </p:nvSpPr>
        <p:spPr>
          <a:xfrm>
            <a:off x="6172200" y="4206240"/>
            <a:ext cx="5394960" cy="1920240"/>
          </a:xfrm>
          <a:prstGeom prst="rect">
            <a:avLst/>
          </a:prstGeom>
          <a:solidFill>
            <a:srgbClr val="D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4389120"/>
            <a:ext cx="4846320" cy="365760"/>
          </a:xfrm>
          <a:prstGeom prst="rect">
            <a:avLst/>
          </a:prstGeom>
          <a:noFill/>
        </p:spPr>
        <p:txBody>
          <a:bodyPr wrap="square" anchor="t" lIns="0" rIns="0" tIns="0" bIns="0">
            <a:spAutoFit/>
          </a:bodyPr>
          <a:lstStyle/>
          <a:p>
            <a:pPr algn="l">
              <a:lnSpc>
                <a:spcPct val="100000"/>
              </a:lnSpc>
            </a:pPr>
            <a:r>
              <a:rPr sz="1450" b="1" i="0">
                <a:solidFill>
                  <a:srgbClr val="0B1F3A"/>
                </a:solidFill>
                <a:latin typeface="Segoe UI Semibold"/>
              </a:rPr>
              <a:t>Có một nhân viên giám sát làm việc thường trực</a:t>
            </a:r>
          </a:p>
        </p:txBody>
      </p:sp>
      <p:sp>
        <p:nvSpPr>
          <p:cNvPr id="18" name="TextBox 17"/>
          <p:cNvSpPr txBox="1"/>
          <p:nvPr/>
        </p:nvSpPr>
        <p:spPr>
          <a:xfrm>
            <a:off x="6446520" y="4800600"/>
            <a:ext cx="4846320" cy="1188720"/>
          </a:xfrm>
          <a:prstGeom prst="rect">
            <a:avLst/>
          </a:prstGeom>
          <a:noFill/>
        </p:spPr>
        <p:txBody>
          <a:bodyPr wrap="square" anchor="t" lIns="0" rIns="0" tIns="0" bIns="0">
            <a:spAutoFit/>
          </a:bodyPr>
          <a:lstStyle/>
          <a:p>
            <a:pPr algn="l">
              <a:lnSpc>
                <a:spcPct val="120000"/>
              </a:lnSpc>
            </a:pPr>
            <a:r>
              <a:rPr sz="1300" b="0" i="0">
                <a:solidFill>
                  <a:srgbClr val="1E8E84"/>
                </a:solidFill>
                <a:latin typeface="Segoe UI"/>
              </a:rPr>
              <a:t>Tự động theo dõi 24/7, tự phát hiện vấn đề, tự đối chiếu quy định, tự báo cáo theo quy trình — không cần ai nhắc.</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38100"/>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0058400" cy="274320"/>
          </a:xfrm>
          <a:prstGeom prst="rect">
            <a:avLst/>
          </a:prstGeom>
          <a:noFill/>
        </p:spPr>
        <p:txBody>
          <a:bodyPr wrap="square" anchor="t" lIns="0" rIns="0" tIns="0" bIns="0">
            <a:spAutoFit/>
          </a:bodyPr>
          <a:lstStyle/>
          <a:p>
            <a:pPr algn="l">
              <a:lnSpc>
                <a:spcPct val="100000"/>
              </a:lnSpc>
            </a:pPr>
            <a:r>
              <a:rPr sz="1150" b="1" i="0">
                <a:solidFill>
                  <a:srgbClr val="2EC4B6"/>
                </a:solidFill>
                <a:latin typeface="Segoe UI Semibold"/>
              </a:rPr>
              <a:t>ĐỊNH HƯỚNG PHÁT TRIỂN</a:t>
            </a:r>
          </a:p>
        </p:txBody>
      </p:sp>
      <p:sp>
        <p:nvSpPr>
          <p:cNvPr id="5" name="TextBox 4"/>
          <p:cNvSpPr txBox="1"/>
          <p:nvPr/>
        </p:nvSpPr>
        <p:spPr>
          <a:xfrm>
            <a:off x="548640" y="420624"/>
            <a:ext cx="10972800" cy="640080"/>
          </a:xfrm>
          <a:prstGeom prst="rect">
            <a:avLst/>
          </a:prstGeom>
          <a:noFill/>
        </p:spPr>
        <p:txBody>
          <a:bodyPr wrap="square" anchor="t" lIns="0" rIns="0" tIns="0" bIns="0">
            <a:spAutoFit/>
          </a:bodyPr>
          <a:lstStyle/>
          <a:p>
            <a:pPr algn="l">
              <a:lnSpc>
                <a:spcPct val="100000"/>
              </a:lnSpc>
            </a:pPr>
            <a:r>
              <a:rPr sz="2700" b="1" i="0">
                <a:solidFill>
                  <a:srgbClr val="FFFFFF"/>
                </a:solidFill>
                <a:latin typeface="Segoe UI Semibold"/>
              </a:rPr>
              <a:t>Lộ trình để trở thành hệ thống social listening hoàn chỉnh</a:t>
            </a:r>
          </a:p>
        </p:txBody>
      </p:sp>
      <p:sp>
        <p:nvSpPr>
          <p:cNvPr id="6" name="Rectangle 5"/>
          <p:cNvSpPr/>
          <p:nvPr/>
        </p:nvSpPr>
        <p:spPr>
          <a:xfrm>
            <a:off x="0" y="6565392"/>
            <a:ext cx="12191695" cy="292608"/>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65392"/>
            <a:ext cx="7315200" cy="292608"/>
          </a:xfrm>
          <a:prstGeom prst="rect">
            <a:avLst/>
          </a:prstGeom>
          <a:noFill/>
        </p:spPr>
        <p:txBody>
          <a:bodyPr wrap="square" anchor="ctr" lIns="0" rIns="0" tIns="0" bIns="0">
            <a:spAutoFit/>
          </a:bodyPr>
          <a:lstStyle/>
          <a:p>
            <a:pPr algn="l">
              <a:lnSpc>
                <a:spcPct val="100000"/>
              </a:lnSpc>
            </a:pPr>
            <a:r>
              <a:rPr sz="900" b="0" i="0">
                <a:solidFill>
                  <a:srgbClr val="B9C4D6"/>
                </a:solidFill>
                <a:latin typeface="Segoe UI"/>
              </a:rPr>
              <a:t>VigiBank  ·  Lộ trình phát triển</a:t>
            </a:r>
          </a:p>
        </p:txBody>
      </p:sp>
      <p:sp>
        <p:nvSpPr>
          <p:cNvPr id="8" name="TextBox 7"/>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B9C4D6"/>
                </a:solidFill>
                <a:latin typeface="Segoe UI"/>
              </a:rPr>
              <a:t>13</a:t>
            </a:r>
          </a:p>
        </p:txBody>
      </p:sp>
      <p:sp>
        <p:nvSpPr>
          <p:cNvPr id="9" name="Rectangle 8"/>
          <p:cNvSpPr/>
          <p:nvPr/>
        </p:nvSpPr>
        <p:spPr>
          <a:xfrm>
            <a:off x="457200" y="1554480"/>
            <a:ext cx="3611880" cy="4846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554480"/>
            <a:ext cx="3611880" cy="777240"/>
          </a:xfrm>
          <a:prstGeom prst="rect">
            <a:avLst/>
          </a:prstGeom>
          <a:solidFill>
            <a:srgbClr val="1B4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664208"/>
            <a:ext cx="3154680" cy="365760"/>
          </a:xfrm>
          <a:prstGeom prst="rect">
            <a:avLst/>
          </a:prstGeom>
          <a:noFill/>
        </p:spPr>
        <p:txBody>
          <a:bodyPr wrap="square" anchor="t" lIns="0" rIns="0" tIns="0" bIns="0">
            <a:spAutoFit/>
          </a:bodyPr>
          <a:lstStyle/>
          <a:p>
            <a:pPr algn="l">
              <a:lnSpc>
                <a:spcPct val="100000"/>
              </a:lnSpc>
            </a:pPr>
            <a:r>
              <a:rPr sz="1500" b="1" i="0">
                <a:solidFill>
                  <a:srgbClr val="FFFFFF"/>
                </a:solidFill>
                <a:latin typeface="Segoe UI Semibold"/>
              </a:rPr>
              <a:t>NGẮN HẠN</a:t>
            </a:r>
          </a:p>
        </p:txBody>
      </p:sp>
      <p:sp>
        <p:nvSpPr>
          <p:cNvPr id="12" name="TextBox 11"/>
          <p:cNvSpPr txBox="1"/>
          <p:nvPr/>
        </p:nvSpPr>
        <p:spPr>
          <a:xfrm>
            <a:off x="685800" y="1993392"/>
            <a:ext cx="3154680" cy="274320"/>
          </a:xfrm>
          <a:prstGeom prst="rect">
            <a:avLst/>
          </a:prstGeom>
          <a:noFill/>
        </p:spPr>
        <p:txBody>
          <a:bodyPr wrap="square" anchor="t" lIns="0" rIns="0" tIns="0" bIns="0">
            <a:spAutoFit/>
          </a:bodyPr>
          <a:lstStyle/>
          <a:p>
            <a:pPr algn="l">
              <a:lnSpc>
                <a:spcPct val="100000"/>
              </a:lnSpc>
            </a:pPr>
            <a:r>
              <a:rPr sz="1200" b="0" i="0">
                <a:solidFill>
                  <a:srgbClr val="E3E9F2"/>
                </a:solidFill>
                <a:latin typeface="Segoe UI"/>
              </a:rPr>
              <a:t>0 – 3 tháng</a:t>
            </a:r>
          </a:p>
        </p:txBody>
      </p:sp>
      <p:sp>
        <p:nvSpPr>
          <p:cNvPr id="13" name="TextBox 12"/>
          <p:cNvSpPr txBox="1"/>
          <p:nvPr/>
        </p:nvSpPr>
        <p:spPr>
          <a:xfrm>
            <a:off x="685800" y="2514600"/>
            <a:ext cx="3154680" cy="3749040"/>
          </a:xfrm>
          <a:prstGeom prst="rect">
            <a:avLst/>
          </a:prstGeom>
          <a:noFill/>
        </p:spPr>
        <p:txBody>
          <a:bodyPr wrap="square" lIns="0" rIns="0" tIns="0" bIns="0">
            <a:spAutoFit/>
          </a:bodyPr>
          <a:lstStyle/>
          <a:p>
            <a:pPr>
              <a:lnSpc>
                <a:spcPct val="108000"/>
              </a:lnSpc>
              <a:spcAft>
                <a:spcPts val="1200"/>
              </a:spcAft>
            </a:pPr>
            <a:r>
              <a:rPr sz="1150" b="1">
                <a:solidFill>
                  <a:srgbClr val="1B4E8C"/>
                </a:solidFill>
                <a:latin typeface="Segoe UI"/>
              </a:rPr>
              <a:t>—  </a:t>
            </a:r>
            <a:r>
              <a:rPr sz="1150">
                <a:solidFill>
                  <a:srgbClr val="1A1D29"/>
                </a:solidFill>
                <a:latin typeface="Segoe UI"/>
              </a:rPr>
              <a:t>Hoàn thiện nguồn thu thập LinkedIn (hiện mới ở dạng stub)</a:t>
            </a:r>
          </a:p>
          <a:p>
            <a:pPr>
              <a:lnSpc>
                <a:spcPct val="108000"/>
              </a:lnSpc>
              <a:spcAft>
                <a:spcPts val="1200"/>
              </a:spcAft>
            </a:pPr>
            <a:r>
              <a:rPr sz="1150" b="1">
                <a:solidFill>
                  <a:srgbClr val="1B4E8C"/>
                </a:solidFill>
                <a:latin typeface="Segoe UI"/>
              </a:rPr>
              <a:t>—  </a:t>
            </a:r>
            <a:r>
              <a:rPr sz="1150">
                <a:solidFill>
                  <a:srgbClr val="1A1D29"/>
                </a:solidFill>
                <a:latin typeface="Segoe UI"/>
              </a:rPr>
              <a:t>Bổ sung nguồn Zalo, YouTube comment, diễn đàn (Webtretho, Tinhte, Voz)</a:t>
            </a:r>
          </a:p>
          <a:p>
            <a:pPr>
              <a:lnSpc>
                <a:spcPct val="108000"/>
              </a:lnSpc>
              <a:spcAft>
                <a:spcPts val="1200"/>
              </a:spcAft>
            </a:pPr>
            <a:r>
              <a:rPr sz="1150" b="1">
                <a:solidFill>
                  <a:srgbClr val="1B4E8C"/>
                </a:solidFill>
                <a:latin typeface="Segoe UI"/>
              </a:rPr>
              <a:t>—  </a:t>
            </a:r>
            <a:r>
              <a:rPr sz="1150">
                <a:solidFill>
                  <a:srgbClr val="1A1D29"/>
                </a:solidFill>
                <a:latin typeface="Segoe UI"/>
              </a:rPr>
              <a:t>Kích hoạt tìm kiếm ngữ nghĩa (vector) cho bước đối chiếu quy định — hạ tầng đã có sẵn nhưng chưa dùng</a:t>
            </a:r>
          </a:p>
          <a:p>
            <a:pPr>
              <a:lnSpc>
                <a:spcPct val="108000"/>
              </a:lnSpc>
              <a:spcAft>
                <a:spcPts val="1200"/>
              </a:spcAft>
            </a:pPr>
            <a:r>
              <a:rPr sz="1150" b="1">
                <a:solidFill>
                  <a:srgbClr val="1B4E8C"/>
                </a:solidFill>
                <a:latin typeface="Segoe UI"/>
              </a:rPr>
              <a:t>—  </a:t>
            </a:r>
            <a:r>
              <a:rPr sz="1150">
                <a:solidFill>
                  <a:srgbClr val="1A1D29"/>
                </a:solidFill>
                <a:latin typeface="Segoe UI"/>
              </a:rPr>
              <a:t>Gom nhóm pain point theo ngữ nghĩa thay vì khớp chuỗi nhãn tuyệt đối</a:t>
            </a:r>
          </a:p>
        </p:txBody>
      </p:sp>
      <p:sp>
        <p:nvSpPr>
          <p:cNvPr id="14" name="Rectangle 13"/>
          <p:cNvSpPr/>
          <p:nvPr/>
        </p:nvSpPr>
        <p:spPr>
          <a:xfrm>
            <a:off x="4197096" y="1554480"/>
            <a:ext cx="3611880" cy="4846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97096" y="1554480"/>
            <a:ext cx="3611880" cy="777240"/>
          </a:xfrm>
          <a:prstGeom prst="rect">
            <a:avLst/>
          </a:prstGeom>
          <a:solidFill>
            <a:srgbClr val="1E8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6" y="1664208"/>
            <a:ext cx="3154680" cy="365760"/>
          </a:xfrm>
          <a:prstGeom prst="rect">
            <a:avLst/>
          </a:prstGeom>
          <a:noFill/>
        </p:spPr>
        <p:txBody>
          <a:bodyPr wrap="square" anchor="t" lIns="0" rIns="0" tIns="0" bIns="0">
            <a:spAutoFit/>
          </a:bodyPr>
          <a:lstStyle/>
          <a:p>
            <a:pPr algn="l">
              <a:lnSpc>
                <a:spcPct val="100000"/>
              </a:lnSpc>
            </a:pPr>
            <a:r>
              <a:rPr sz="1500" b="1" i="0">
                <a:solidFill>
                  <a:srgbClr val="FFFFFF"/>
                </a:solidFill>
                <a:latin typeface="Segoe UI Semibold"/>
              </a:rPr>
              <a:t>TRUNG HẠN</a:t>
            </a:r>
          </a:p>
        </p:txBody>
      </p:sp>
      <p:sp>
        <p:nvSpPr>
          <p:cNvPr id="17" name="TextBox 16"/>
          <p:cNvSpPr txBox="1"/>
          <p:nvPr/>
        </p:nvSpPr>
        <p:spPr>
          <a:xfrm>
            <a:off x="4425696" y="1993392"/>
            <a:ext cx="3154680" cy="274320"/>
          </a:xfrm>
          <a:prstGeom prst="rect">
            <a:avLst/>
          </a:prstGeom>
          <a:noFill/>
        </p:spPr>
        <p:txBody>
          <a:bodyPr wrap="square" anchor="t" lIns="0" rIns="0" tIns="0" bIns="0">
            <a:spAutoFit/>
          </a:bodyPr>
          <a:lstStyle/>
          <a:p>
            <a:pPr algn="l">
              <a:lnSpc>
                <a:spcPct val="100000"/>
              </a:lnSpc>
            </a:pPr>
            <a:r>
              <a:rPr sz="1200" b="0" i="0">
                <a:solidFill>
                  <a:srgbClr val="E3E9F2"/>
                </a:solidFill>
                <a:latin typeface="Segoe UI"/>
              </a:rPr>
              <a:t>3 – 9 tháng</a:t>
            </a:r>
          </a:p>
        </p:txBody>
      </p:sp>
      <p:sp>
        <p:nvSpPr>
          <p:cNvPr id="18" name="TextBox 17"/>
          <p:cNvSpPr txBox="1"/>
          <p:nvPr/>
        </p:nvSpPr>
        <p:spPr>
          <a:xfrm>
            <a:off x="4425696" y="2514600"/>
            <a:ext cx="3154680" cy="3749040"/>
          </a:xfrm>
          <a:prstGeom prst="rect">
            <a:avLst/>
          </a:prstGeom>
          <a:noFill/>
        </p:spPr>
        <p:txBody>
          <a:bodyPr wrap="square" lIns="0" rIns="0" tIns="0" bIns="0">
            <a:spAutoFit/>
          </a:bodyPr>
          <a:lstStyle/>
          <a:p>
            <a:pPr>
              <a:lnSpc>
                <a:spcPct val="108000"/>
              </a:lnSpc>
              <a:spcAft>
                <a:spcPts val="1200"/>
              </a:spcAft>
            </a:pPr>
            <a:r>
              <a:rPr sz="1150" b="1">
                <a:solidFill>
                  <a:srgbClr val="1E8E84"/>
                </a:solidFill>
                <a:latin typeface="Segoe UI"/>
              </a:rPr>
              <a:t>—  </a:t>
            </a:r>
            <a:r>
              <a:rPr sz="1150">
                <a:solidFill>
                  <a:srgbClr val="1A1D29"/>
                </a:solidFill>
                <a:latin typeface="Segoe UI"/>
              </a:rPr>
              <a:t>So sánh cạnh tranh: benchmark sentiment với các ngân hàng khác cùng phân khúc</a:t>
            </a:r>
          </a:p>
          <a:p>
            <a:pPr>
              <a:lnSpc>
                <a:spcPct val="108000"/>
              </a:lnSpc>
              <a:spcAft>
                <a:spcPts val="1200"/>
              </a:spcAft>
            </a:pPr>
            <a:r>
              <a:rPr sz="1150" b="1">
                <a:solidFill>
                  <a:srgbClr val="1E8E84"/>
                </a:solidFill>
                <a:latin typeface="Segoe UI"/>
              </a:rPr>
              <a:t>—  </a:t>
            </a:r>
            <a:r>
              <a:rPr sz="1150">
                <a:solidFill>
                  <a:srgbClr val="1A1D29"/>
                </a:solidFill>
                <a:latin typeface="Segoe UI"/>
              </a:rPr>
              <a:t>Phát hiện tài khoản/KOL ảnh hưởng lớn, chấm điểm nguy cơ lan truyền (viral risk)</a:t>
            </a:r>
          </a:p>
          <a:p>
            <a:pPr>
              <a:lnSpc>
                <a:spcPct val="108000"/>
              </a:lnSpc>
              <a:spcAft>
                <a:spcPts val="1200"/>
              </a:spcAft>
            </a:pPr>
            <a:r>
              <a:rPr sz="1150" b="1">
                <a:solidFill>
                  <a:srgbClr val="1E8E84"/>
                </a:solidFill>
                <a:latin typeface="Segoe UI"/>
              </a:rPr>
              <a:t>—  </a:t>
            </a:r>
            <a:r>
              <a:rPr sz="1150">
                <a:solidFill>
                  <a:srgbClr val="1A1D29"/>
                </a:solidFill>
                <a:latin typeface="Segoe UI"/>
              </a:rPr>
              <a:t>Gợi ý câu trả lời mẫu cho CSKH dựa trên chính sách và tông giọng thương hiệu</a:t>
            </a:r>
          </a:p>
          <a:p>
            <a:pPr>
              <a:lnSpc>
                <a:spcPct val="108000"/>
              </a:lnSpc>
              <a:spcAft>
                <a:spcPts val="1200"/>
              </a:spcAft>
            </a:pPr>
            <a:r>
              <a:rPr sz="1150" b="1">
                <a:solidFill>
                  <a:srgbClr val="1E8E84"/>
                </a:solidFill>
                <a:latin typeface="Segoe UI"/>
              </a:rPr>
              <a:t>—  </a:t>
            </a:r>
            <a:r>
              <a:rPr sz="1150">
                <a:solidFill>
                  <a:srgbClr val="1A1D29"/>
                </a:solidFill>
                <a:latin typeface="Segoe UI"/>
              </a:rPr>
              <a:t>Tích hợp CRM/ticketing (Zendesk, Freshdesk) và Slack/Teams vào quy trình xử lý</a:t>
            </a:r>
          </a:p>
        </p:txBody>
      </p:sp>
      <p:sp>
        <p:nvSpPr>
          <p:cNvPr id="19" name="Rectangle 18"/>
          <p:cNvSpPr/>
          <p:nvPr/>
        </p:nvSpPr>
        <p:spPr>
          <a:xfrm>
            <a:off x="7936992" y="1554480"/>
            <a:ext cx="3611880" cy="4846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36992" y="1554480"/>
            <a:ext cx="3611880" cy="777240"/>
          </a:xfrm>
          <a:prstGeom prst="rect">
            <a:avLst/>
          </a:prstGeom>
          <a:solidFill>
            <a:srgbClr val="112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65592" y="1664208"/>
            <a:ext cx="3154680" cy="365760"/>
          </a:xfrm>
          <a:prstGeom prst="rect">
            <a:avLst/>
          </a:prstGeom>
          <a:noFill/>
        </p:spPr>
        <p:txBody>
          <a:bodyPr wrap="square" anchor="t" lIns="0" rIns="0" tIns="0" bIns="0">
            <a:spAutoFit/>
          </a:bodyPr>
          <a:lstStyle/>
          <a:p>
            <a:pPr algn="l">
              <a:lnSpc>
                <a:spcPct val="100000"/>
              </a:lnSpc>
            </a:pPr>
            <a:r>
              <a:rPr sz="1500" b="1" i="0">
                <a:solidFill>
                  <a:srgbClr val="FFFFFF"/>
                </a:solidFill>
                <a:latin typeface="Segoe UI Semibold"/>
              </a:rPr>
              <a:t>DÀI HẠN</a:t>
            </a:r>
          </a:p>
        </p:txBody>
      </p:sp>
      <p:sp>
        <p:nvSpPr>
          <p:cNvPr id="22" name="TextBox 21"/>
          <p:cNvSpPr txBox="1"/>
          <p:nvPr/>
        </p:nvSpPr>
        <p:spPr>
          <a:xfrm>
            <a:off x="8165592" y="1993392"/>
            <a:ext cx="3154680" cy="274320"/>
          </a:xfrm>
          <a:prstGeom prst="rect">
            <a:avLst/>
          </a:prstGeom>
          <a:noFill/>
        </p:spPr>
        <p:txBody>
          <a:bodyPr wrap="square" anchor="t" lIns="0" rIns="0" tIns="0" bIns="0">
            <a:spAutoFit/>
          </a:bodyPr>
          <a:lstStyle/>
          <a:p>
            <a:pPr algn="l">
              <a:lnSpc>
                <a:spcPct val="100000"/>
              </a:lnSpc>
            </a:pPr>
            <a:r>
              <a:rPr sz="1200" b="0" i="0">
                <a:solidFill>
                  <a:srgbClr val="E3E9F2"/>
                </a:solidFill>
                <a:latin typeface="Segoe UI"/>
              </a:rPr>
              <a:t>9 – 18 tháng</a:t>
            </a:r>
          </a:p>
        </p:txBody>
      </p:sp>
      <p:sp>
        <p:nvSpPr>
          <p:cNvPr id="23" name="TextBox 22"/>
          <p:cNvSpPr txBox="1"/>
          <p:nvPr/>
        </p:nvSpPr>
        <p:spPr>
          <a:xfrm>
            <a:off x="8165592" y="2514600"/>
            <a:ext cx="3154680" cy="3749040"/>
          </a:xfrm>
          <a:prstGeom prst="rect">
            <a:avLst/>
          </a:prstGeom>
          <a:noFill/>
        </p:spPr>
        <p:txBody>
          <a:bodyPr wrap="square" lIns="0" rIns="0" tIns="0" bIns="0">
            <a:spAutoFit/>
          </a:bodyPr>
          <a:lstStyle/>
          <a:p>
            <a:pPr>
              <a:lnSpc>
                <a:spcPct val="108000"/>
              </a:lnSpc>
              <a:spcAft>
                <a:spcPts val="1200"/>
              </a:spcAft>
            </a:pPr>
            <a:r>
              <a:rPr sz="1150" b="1">
                <a:solidFill>
                  <a:srgbClr val="112E52"/>
                </a:solidFill>
                <a:latin typeface="Segoe UI"/>
              </a:rPr>
              <a:t>—  </a:t>
            </a:r>
            <a:r>
              <a:rPr sz="1150">
                <a:solidFill>
                  <a:srgbClr val="1A1D29"/>
                </a:solidFill>
                <a:latin typeface="Segoe UI"/>
              </a:rPr>
              <a:t>Cảnh báo sớm nâng cao — dự báo xu hướng thay vì chỉ so sánh đột biến 2h/24h</a:t>
            </a:r>
          </a:p>
          <a:p>
            <a:pPr>
              <a:lnSpc>
                <a:spcPct val="108000"/>
              </a:lnSpc>
              <a:spcAft>
                <a:spcPts val="1200"/>
              </a:spcAft>
            </a:pPr>
            <a:r>
              <a:rPr sz="1150" b="1">
                <a:solidFill>
                  <a:srgbClr val="112E52"/>
                </a:solidFill>
                <a:latin typeface="Segoe UI"/>
              </a:rPr>
              <a:t>—  </a:t>
            </a:r>
            <a:r>
              <a:rPr sz="1150">
                <a:solidFill>
                  <a:srgbClr val="1A1D29"/>
                </a:solidFill>
                <a:latin typeface="Segoe UI"/>
              </a:rPr>
              <a:t>Báo cáo tuân thủ tự động định kỳ cho NHNN/ban lãnh đạo (xuất PDF/Excel theo lịch)</a:t>
            </a:r>
          </a:p>
          <a:p>
            <a:pPr>
              <a:lnSpc>
                <a:spcPct val="108000"/>
              </a:lnSpc>
              <a:spcAft>
                <a:spcPts val="1200"/>
              </a:spcAft>
            </a:pPr>
            <a:r>
              <a:rPr sz="1150" b="1">
                <a:solidFill>
                  <a:srgbClr val="112E52"/>
                </a:solidFill>
                <a:latin typeface="Segoe UI"/>
              </a:rPr>
              <a:t>—  </a:t>
            </a:r>
            <a:r>
              <a:rPr sz="1150">
                <a:solidFill>
                  <a:srgbClr val="1A1D29"/>
                </a:solidFill>
                <a:latin typeface="Segoe UI"/>
              </a:rPr>
              <a:t>Mở rộng ngoài ngân hàng: bảo hiểm, chứng khoán, hàng không, bán lẻ</a:t>
            </a:r>
          </a:p>
          <a:p>
            <a:pPr>
              <a:lnSpc>
                <a:spcPct val="108000"/>
              </a:lnSpc>
              <a:spcAft>
                <a:spcPts val="1200"/>
              </a:spcAft>
            </a:pPr>
            <a:r>
              <a:rPr sz="1150" b="1">
                <a:solidFill>
                  <a:srgbClr val="112E52"/>
                </a:solidFill>
                <a:latin typeface="Segoe UI"/>
              </a:rPr>
              <a:t>—  </a:t>
            </a:r>
            <a:r>
              <a:rPr sz="1150">
                <a:solidFill>
                  <a:srgbClr val="1A1D29"/>
                </a:solidFill>
                <a:latin typeface="Segoe UI"/>
              </a:rPr>
              <a:t>Giảm phụ thuộc quota LLM miễn phí — tối ưu chi phí giữa các bước rẻ và bước then chốt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ectangle 1"/>
          <p:cNvSpPr/>
          <p:nvPr/>
        </p:nvSpPr>
        <p:spPr>
          <a:xfrm>
            <a:off x="0" y="0"/>
            <a:ext cx="12191695" cy="12344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34440"/>
            <a:ext cx="12191695" cy="38100"/>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
            <a:ext cx="10058400" cy="274320"/>
          </a:xfrm>
          <a:prstGeom prst="rect">
            <a:avLst/>
          </a:prstGeom>
          <a:noFill/>
        </p:spPr>
        <p:txBody>
          <a:bodyPr wrap="square" anchor="t" lIns="0" rIns="0" tIns="0" bIns="0">
            <a:spAutoFit/>
          </a:bodyPr>
          <a:lstStyle/>
          <a:p>
            <a:pPr algn="l">
              <a:lnSpc>
                <a:spcPct val="100000"/>
              </a:lnSpc>
            </a:pPr>
            <a:r>
              <a:rPr sz="1150" b="1" i="0">
                <a:solidFill>
                  <a:srgbClr val="2EC4B6"/>
                </a:solidFill>
                <a:latin typeface="Segoe UI Semibold"/>
              </a:rPr>
              <a:t>KẾT LUẬN</a:t>
            </a:r>
          </a:p>
        </p:txBody>
      </p:sp>
      <p:sp>
        <p:nvSpPr>
          <p:cNvPr id="5" name="TextBox 4"/>
          <p:cNvSpPr txBox="1"/>
          <p:nvPr/>
        </p:nvSpPr>
        <p:spPr>
          <a:xfrm>
            <a:off x="548640" y="420624"/>
            <a:ext cx="10972800" cy="640080"/>
          </a:xfrm>
          <a:prstGeom prst="rect">
            <a:avLst/>
          </a:prstGeom>
          <a:noFill/>
        </p:spPr>
        <p:txBody>
          <a:bodyPr wrap="square" anchor="t" lIns="0" rIns="0" tIns="0" bIns="0">
            <a:spAutoFit/>
          </a:bodyPr>
          <a:lstStyle/>
          <a:p>
            <a:pPr algn="l">
              <a:lnSpc>
                <a:spcPct val="100000"/>
              </a:lnSpc>
            </a:pPr>
            <a:r>
              <a:rPr sz="2700" b="1" i="0">
                <a:solidFill>
                  <a:srgbClr val="FFFFFF"/>
                </a:solidFill>
                <a:latin typeface="Segoe UI Semibold"/>
              </a:rPr>
              <a:t>Kết luận &amp; khuyến nghị</a:t>
            </a:r>
          </a:p>
        </p:txBody>
      </p:sp>
      <p:sp>
        <p:nvSpPr>
          <p:cNvPr id="6" name="Rectangle 5"/>
          <p:cNvSpPr/>
          <p:nvPr/>
        </p:nvSpPr>
        <p:spPr>
          <a:xfrm>
            <a:off x="0" y="6565392"/>
            <a:ext cx="12191695" cy="292608"/>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65392"/>
            <a:ext cx="7315200" cy="292608"/>
          </a:xfrm>
          <a:prstGeom prst="rect">
            <a:avLst/>
          </a:prstGeom>
          <a:noFill/>
        </p:spPr>
        <p:txBody>
          <a:bodyPr wrap="square" anchor="ctr" lIns="0" rIns="0" tIns="0" bIns="0">
            <a:spAutoFit/>
          </a:bodyPr>
          <a:lstStyle/>
          <a:p>
            <a:pPr algn="l">
              <a:lnSpc>
                <a:spcPct val="100000"/>
              </a:lnSpc>
            </a:pPr>
            <a:r>
              <a:rPr sz="900" b="0" i="0">
                <a:solidFill>
                  <a:srgbClr val="B9C4D6"/>
                </a:solidFill>
                <a:latin typeface="Segoe UI"/>
              </a:rPr>
              <a:t>VigiBank  ·  Kết luận</a:t>
            </a:r>
          </a:p>
        </p:txBody>
      </p:sp>
      <p:sp>
        <p:nvSpPr>
          <p:cNvPr id="8" name="TextBox 7"/>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B9C4D6"/>
                </a:solidFill>
                <a:latin typeface="Segoe UI"/>
              </a:rPr>
              <a:t>14</a:t>
            </a:r>
          </a:p>
        </p:txBody>
      </p:sp>
      <p:sp>
        <p:nvSpPr>
          <p:cNvPr id="9" name="Rectangle 8"/>
          <p:cNvSpPr/>
          <p:nvPr/>
        </p:nvSpPr>
        <p:spPr>
          <a:xfrm>
            <a:off x="548640" y="1645920"/>
            <a:ext cx="11109960" cy="1417320"/>
          </a:xfrm>
          <a:prstGeom prst="rect">
            <a:avLst/>
          </a:prstGeom>
          <a:solidFill>
            <a:srgbClr val="DA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783080"/>
            <a:ext cx="10607040" cy="365760"/>
          </a:xfrm>
          <a:prstGeom prst="rect">
            <a:avLst/>
          </a:prstGeom>
          <a:noFill/>
        </p:spPr>
        <p:txBody>
          <a:bodyPr wrap="square" anchor="t" lIns="0" rIns="0" tIns="0" bIns="0">
            <a:spAutoFit/>
          </a:bodyPr>
          <a:lstStyle/>
          <a:p>
            <a:pPr algn="l">
              <a:lnSpc>
                <a:spcPct val="100000"/>
              </a:lnSpc>
            </a:pPr>
            <a:r>
              <a:rPr sz="1400" b="1" i="0">
                <a:solidFill>
                  <a:srgbClr val="1E8E84"/>
                </a:solidFill>
                <a:latin typeface="Segoe UI Semibold"/>
              </a:rPr>
              <a:t>Hệ thống hiện tại</a:t>
            </a:r>
          </a:p>
        </p:txBody>
      </p:sp>
      <p:sp>
        <p:nvSpPr>
          <p:cNvPr id="11" name="TextBox 10"/>
          <p:cNvSpPr txBox="1"/>
          <p:nvPr/>
        </p:nvSpPr>
        <p:spPr>
          <a:xfrm>
            <a:off x="822960" y="2148840"/>
            <a:ext cx="10607040" cy="822960"/>
          </a:xfrm>
          <a:prstGeom prst="rect">
            <a:avLst/>
          </a:prstGeom>
          <a:noFill/>
        </p:spPr>
        <p:txBody>
          <a:bodyPr wrap="square" anchor="t" lIns="0" rIns="0" tIns="0" bIns="0">
            <a:spAutoFit/>
          </a:bodyPr>
          <a:lstStyle/>
          <a:p>
            <a:pPr algn="l">
              <a:lnSpc>
                <a:spcPct val="120000"/>
              </a:lnSpc>
            </a:pPr>
            <a:r>
              <a:rPr sz="1300" b="0" i="0">
                <a:solidFill>
                  <a:srgbClr val="0B1F3A"/>
                </a:solidFill>
                <a:latin typeface="Segoe UI"/>
              </a:rPr>
              <a:t>Đã có nền tảng kỹ thuật thật — khác biệt rõ so với ChatGPT Pro Deep Research (tự động hóa liên tục thay vì phải tự hỏi từng lần), và rẻ hơn đáng kể so với các nền tảng social listening quốc tế đã trưởng thành.</a:t>
            </a:r>
          </a:p>
        </p:txBody>
      </p:sp>
      <p:sp>
        <p:nvSpPr>
          <p:cNvPr id="12" name="Rectangle 11"/>
          <p:cNvSpPr/>
          <p:nvPr/>
        </p:nvSpPr>
        <p:spPr>
          <a:xfrm>
            <a:off x="548640" y="3246120"/>
            <a:ext cx="11109960" cy="1417320"/>
          </a:xfrm>
          <a:prstGeom prst="rect">
            <a:avLst/>
          </a:prstGeom>
          <a:solidFill>
            <a:srgbClr val="FBF2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383280"/>
            <a:ext cx="10607040" cy="365760"/>
          </a:xfrm>
          <a:prstGeom prst="rect">
            <a:avLst/>
          </a:prstGeom>
          <a:noFill/>
        </p:spPr>
        <p:txBody>
          <a:bodyPr wrap="square" anchor="t" lIns="0" rIns="0" tIns="0" bIns="0">
            <a:spAutoFit/>
          </a:bodyPr>
          <a:lstStyle/>
          <a:p>
            <a:pPr algn="l">
              <a:lnSpc>
                <a:spcPct val="100000"/>
              </a:lnSpc>
            </a:pPr>
            <a:r>
              <a:rPr sz="1400" b="1" i="0">
                <a:solidFill>
                  <a:srgbClr val="C78A1E"/>
                </a:solidFill>
                <a:latin typeface="Segoe UI Semibold"/>
              </a:rPr>
              <a:t>Nhưng còn thiếu</a:t>
            </a:r>
          </a:p>
        </p:txBody>
      </p:sp>
      <p:sp>
        <p:nvSpPr>
          <p:cNvPr id="14" name="TextBox 13"/>
          <p:cNvSpPr txBox="1"/>
          <p:nvPr/>
        </p:nvSpPr>
        <p:spPr>
          <a:xfrm>
            <a:off x="822960" y="3749039"/>
            <a:ext cx="10607040" cy="822960"/>
          </a:xfrm>
          <a:prstGeom prst="rect">
            <a:avLst/>
          </a:prstGeom>
          <a:noFill/>
        </p:spPr>
        <p:txBody>
          <a:bodyPr wrap="square" anchor="t" lIns="0" rIns="0" tIns="0" bIns="0">
            <a:spAutoFit/>
          </a:bodyPr>
          <a:lstStyle/>
          <a:p>
            <a:pPr algn="l">
              <a:lnSpc>
                <a:spcPct val="120000"/>
              </a:lnSpc>
            </a:pPr>
            <a:r>
              <a:rPr sz="1350" b="0" i="0">
                <a:solidFill>
                  <a:srgbClr val="0B1F3A"/>
                </a:solidFill>
                <a:latin typeface="Segoe UI"/>
              </a:rPr>
              <a:t>Vài mảnh ghép quan trọng (tìm kiếm ngữ nghĩa, đa kênh Zalo/YouTube, benchmark đối thủ) để thực sự xứng đáng là một hệ thống “hoàn chỉnh”.</a:t>
            </a:r>
          </a:p>
        </p:txBody>
      </p:sp>
      <p:sp>
        <p:nvSpPr>
          <p:cNvPr id="15" name="Rectangle 14"/>
          <p:cNvSpPr/>
          <p:nvPr/>
        </p:nvSpPr>
        <p:spPr>
          <a:xfrm>
            <a:off x="548640" y="4846320"/>
            <a:ext cx="11109960" cy="1417320"/>
          </a:xfrm>
          <a:prstGeom prst="rect">
            <a:avLst/>
          </a:prstGeom>
          <a:solidFill>
            <a:srgbClr val="EA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983480"/>
            <a:ext cx="10607040" cy="365760"/>
          </a:xfrm>
          <a:prstGeom prst="rect">
            <a:avLst/>
          </a:prstGeom>
          <a:noFill/>
        </p:spPr>
        <p:txBody>
          <a:bodyPr wrap="square" anchor="t" lIns="0" rIns="0" tIns="0" bIns="0">
            <a:spAutoFit/>
          </a:bodyPr>
          <a:lstStyle/>
          <a:p>
            <a:pPr algn="l">
              <a:lnSpc>
                <a:spcPct val="100000"/>
              </a:lnSpc>
            </a:pPr>
            <a:r>
              <a:rPr sz="1400" b="1" i="0">
                <a:solidFill>
                  <a:srgbClr val="0B1F3A"/>
                </a:solidFill>
                <a:latin typeface="Segoe UI Semibold"/>
              </a:rPr>
              <a:t>Khuyến nghị hành động</a:t>
            </a:r>
          </a:p>
        </p:txBody>
      </p:sp>
      <p:sp>
        <p:nvSpPr>
          <p:cNvPr id="17" name="TextBox 16"/>
          <p:cNvSpPr txBox="1"/>
          <p:nvPr/>
        </p:nvSpPr>
        <p:spPr>
          <a:xfrm>
            <a:off x="822960" y="5349240"/>
            <a:ext cx="10607040" cy="822960"/>
          </a:xfrm>
          <a:prstGeom prst="rect">
            <a:avLst/>
          </a:prstGeom>
          <a:noFill/>
        </p:spPr>
        <p:txBody>
          <a:bodyPr wrap="square" anchor="t" lIns="0" rIns="0" tIns="0" bIns="0">
            <a:spAutoFit/>
          </a:bodyPr>
          <a:lstStyle/>
          <a:p>
            <a:pPr algn="l">
              <a:lnSpc>
                <a:spcPct val="120000"/>
              </a:lnSpc>
            </a:pPr>
            <a:r>
              <a:rPr sz="1350" b="0" i="0">
                <a:solidFill>
                  <a:srgbClr val="0B1F3A"/>
                </a:solidFill>
                <a:latin typeface="Segoe UI"/>
              </a:rPr>
              <a:t>Ưu tiên hoàn thiện lộ trình ngắn hạn trước khi định giá và bán rộng; chọn 1 ngân hàng thí điểm để đo ROI thực tế — thời gian phát hiện sớm hơn bao nhiêu, giảm được bao nhiêu giờ nhân sự.</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91840"/>
            <a:ext cx="12191695" cy="38100"/>
          </a:xfrm>
          <a:prstGeom prst="rect">
            <a:avLst/>
          </a:prstGeom>
          <a:solidFill>
            <a:srgbClr val="2EC4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651760"/>
            <a:ext cx="10515600" cy="914400"/>
          </a:xfrm>
          <a:prstGeom prst="rect">
            <a:avLst/>
          </a:prstGeom>
          <a:noFill/>
        </p:spPr>
        <p:txBody>
          <a:bodyPr wrap="square" anchor="t" lIns="0" rIns="0" tIns="0" bIns="0">
            <a:spAutoFit/>
          </a:bodyPr>
          <a:lstStyle/>
          <a:p>
            <a:pPr algn="l">
              <a:lnSpc>
                <a:spcPct val="100000"/>
              </a:lnSpc>
            </a:pPr>
            <a:r>
              <a:rPr sz="4800" b="1" i="0">
                <a:solidFill>
                  <a:srgbClr val="FFFFFF"/>
                </a:solidFill>
                <a:latin typeface="Segoe UI Semibold"/>
              </a:rPr>
              <a:t>Cảm ơn</a:t>
            </a:r>
          </a:p>
        </p:txBody>
      </p:sp>
      <p:sp>
        <p:nvSpPr>
          <p:cNvPr id="5" name="TextBox 4"/>
          <p:cNvSpPr txBox="1"/>
          <p:nvPr/>
        </p:nvSpPr>
        <p:spPr>
          <a:xfrm>
            <a:off x="868680" y="3520440"/>
            <a:ext cx="10058400" cy="548640"/>
          </a:xfrm>
          <a:prstGeom prst="rect">
            <a:avLst/>
          </a:prstGeom>
          <a:noFill/>
        </p:spPr>
        <p:txBody>
          <a:bodyPr wrap="square" anchor="t" lIns="0" rIns="0" tIns="0" bIns="0">
            <a:spAutoFit/>
          </a:bodyPr>
          <a:lstStyle/>
          <a:p>
            <a:pPr algn="l">
              <a:lnSpc>
                <a:spcPct val="100000"/>
              </a:lnSpc>
            </a:pPr>
            <a:r>
              <a:rPr sz="1800" b="0" i="0">
                <a:solidFill>
                  <a:srgbClr val="C9D6E8"/>
                </a:solidFill>
                <a:latin typeface="Segoe UI"/>
              </a:rPr>
              <a:t>Sẵn sàng trao đổi &amp; phản biện</a:t>
            </a:r>
          </a:p>
        </p:txBody>
      </p:sp>
      <p:sp>
        <p:nvSpPr>
          <p:cNvPr id="6" name="TextBox 5"/>
          <p:cNvSpPr txBox="1"/>
          <p:nvPr/>
        </p:nvSpPr>
        <p:spPr>
          <a:xfrm>
            <a:off x="868680" y="6263640"/>
            <a:ext cx="7315200" cy="365760"/>
          </a:xfrm>
          <a:prstGeom prst="rect">
            <a:avLst/>
          </a:prstGeom>
          <a:noFill/>
        </p:spPr>
        <p:txBody>
          <a:bodyPr wrap="square" anchor="t" lIns="0" rIns="0" tIns="0" bIns="0">
            <a:spAutoFit/>
          </a:bodyPr>
          <a:lstStyle/>
          <a:p>
            <a:pPr algn="l">
              <a:lnSpc>
                <a:spcPct val="100000"/>
              </a:lnSpc>
            </a:pPr>
            <a:r>
              <a:rPr sz="1150" b="0" i="0">
                <a:solidFill>
                  <a:srgbClr val="7C8CA8"/>
                </a:solidFill>
                <a:latin typeface="Segoe UI"/>
              </a:rPr>
              <a:t>VigiBank  ·  Social Listening cho ngành Ngân hàng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